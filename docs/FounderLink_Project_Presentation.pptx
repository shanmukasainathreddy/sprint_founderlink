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3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1999" cy="6858000" type="wide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 field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</a:ln>
        </p:spPr>
      </p:sp>
      <p:sp>
        <p:nvSpPr>
          <p:cNvPr id="3" name="signal bar"/>
          <p:cNvSpPr/>
          <p:nvPr/>
        </p:nvSpPr>
        <p:spPr>
          <a:xfrm>
            <a:off x="4709160" y="0"/>
            <a:ext cx="164592" cy="6858000"/>
          </a:xfrm>
          <a:prstGeom prst="rect">
            <a:avLst/>
          </a:prstGeom>
          <a:solidFill>
            <a:srgbClr val="20B486"/>
          </a:solidFill>
          <a:ln w="9525">
            <a:solidFill>
              <a:srgbClr val="20B486"/>
            </a:solidFill>
          </a:ln>
        </p:spPr>
      </p:sp>
      <p:sp>
        <p:nvSpPr>
          <p:cNvPr id="4" name="cover label"/>
          <p:cNvSpPr txBox="1"/>
          <p:nvPr/>
        </p:nvSpPr>
        <p:spPr>
          <a:xfrm>
            <a:off x="594360" y="6400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200" b="1">
                <a:solidFill>
                  <a:srgbClr val="9EE8CE"/>
                </a:solidFill>
                <a:latin typeface="Aptos"/>
              </a:rPr>
              <a:t>MICROSERVICES PROJECT</a:t>
            </a:r>
          </a:p>
        </p:txBody>
      </p:sp>
      <p:sp>
        <p:nvSpPr>
          <p:cNvPr id="5" name="cover title"/>
          <p:cNvSpPr txBox="1"/>
          <p:nvPr/>
        </p:nvSpPr>
        <p:spPr>
          <a:xfrm>
            <a:off x="594360" y="1325880"/>
            <a:ext cx="365760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3800" b="1">
                <a:solidFill>
                  <a:srgbClr val="FFFFFF"/>
                </a:solidFill>
                <a:latin typeface="Aptos"/>
              </a:rPr>
              <a:t>FounderLink</a:t>
            </a:r>
          </a:p>
        </p:txBody>
      </p:sp>
      <p:sp>
        <p:nvSpPr>
          <p:cNvPr id="6" name="cover subtitle"/>
          <p:cNvSpPr txBox="1"/>
          <p:nvPr/>
        </p:nvSpPr>
        <p:spPr>
          <a:xfrm>
            <a:off x="621792" y="2788920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800">
                <a:solidFill>
                  <a:srgbClr val="DCE8F3"/>
                </a:solidFill>
                <a:latin typeface="Aptos"/>
              </a:rPr>
              <a:t>Connecting founders, investors, co-founders, admins, and notification workflows.</a:t>
            </a:r>
          </a:p>
        </p:txBody>
      </p:sp>
      <p:sp>
        <p:nvSpPr>
          <p:cNvPr id="7" name="cover stack"/>
          <p:cNvSpPr txBox="1"/>
          <p:nvPr/>
        </p:nvSpPr>
        <p:spPr>
          <a:xfrm>
            <a:off x="621792" y="534924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400" b="1">
                <a:solidFill>
                  <a:srgbClr val="9EE8CE"/>
                </a:solidFill>
                <a:latin typeface="Aptos"/>
              </a:rPr>
              <a:t>Angular + Spring Boot + Docker Compose</a:t>
            </a:r>
          </a:p>
        </p:txBody>
      </p:sp>
      <p:sp>
        <p:nvSpPr>
          <p:cNvPr id="8" name="system canvas"/>
          <p:cNvSpPr/>
          <p:nvPr/>
        </p:nvSpPr>
        <p:spPr>
          <a:xfrm>
            <a:off x="5486400" y="685800"/>
            <a:ext cx="5623560" cy="5257800"/>
          </a:xfrm>
          <a:prstGeom prst="rect">
            <a:avLst/>
          </a:prstGeom>
          <a:solidFill>
            <a:srgbClr val="FFFFFF"/>
          </a:solidFill>
          <a:ln w="9525">
            <a:solidFill>
              <a:srgbClr val="DEE5EF"/>
            </a:solidFill>
          </a:ln>
        </p:spPr>
      </p:sp>
      <p:sp>
        <p:nvSpPr>
          <p:cNvPr id="9" name="canvas browser"/>
          <p:cNvSpPr txBox="1"/>
          <p:nvPr/>
        </p:nvSpPr>
        <p:spPr>
          <a:xfrm>
            <a:off x="5806440" y="100584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"/>
            <a:r>
              <a:rPr lang="en-US" sz="1400" b="1">
                <a:solidFill>
                  <a:srgbClr val="17202A"/>
                </a:solidFill>
                <a:latin typeface="Aptos"/>
              </a:rPr>
              <a:t>Browser</a:t>
            </a:r>
          </a:p>
        </p:txBody>
      </p:sp>
      <p:sp>
        <p:nvSpPr>
          <p:cNvPr id="13" name="node frontend"/>
          <p:cNvSpPr/>
          <p:nvPr/>
        </p:nvSpPr>
        <p:spPr>
          <a:xfrm>
            <a:off x="5669280" y="1508760"/>
            <a:ext cx="1645920" cy="640080"/>
          </a:xfrm>
          <a:prstGeom prst="roundRect">
            <a:avLst/>
          </a:prstGeom>
          <a:solidFill>
            <a:srgbClr val="E9F7F2"/>
          </a:solidFill>
          <a:ln w="9525">
            <a:solidFill>
              <a:srgbClr val="20B486"/>
            </a:solidFill>
          </a:ln>
        </p:spPr>
      </p:sp>
      <p:sp>
        <p:nvSpPr>
          <p:cNvPr id="14" name="node frontend label"/>
          <p:cNvSpPr txBox="1"/>
          <p:nvPr/>
        </p:nvSpPr>
        <p:spPr>
          <a:xfrm>
            <a:off x="5806440" y="1700784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"/>
            <a:r>
              <a:rPr lang="en-US" sz="1200" b="1">
                <a:solidFill>
                  <a:srgbClr val="0B5D46"/>
                </a:solidFill>
                <a:latin typeface="Aptos"/>
              </a:rPr>
              <a:t>Angular UI</a:t>
            </a:r>
          </a:p>
        </p:txBody>
      </p:sp>
      <p:sp>
        <p:nvSpPr>
          <p:cNvPr id="15" name="node gateway"/>
          <p:cNvSpPr/>
          <p:nvPr/>
        </p:nvSpPr>
        <p:spPr>
          <a:xfrm>
            <a:off x="7818120" y="1508760"/>
            <a:ext cx="1645920" cy="640080"/>
          </a:xfrm>
          <a:prstGeom prst="roundRect">
            <a:avLst/>
          </a:prstGeom>
          <a:solidFill>
            <a:srgbClr val="FFF0D8"/>
          </a:solidFill>
          <a:ln w="9525">
            <a:solidFill>
              <a:srgbClr val="F5A524"/>
            </a:solidFill>
          </a:ln>
        </p:spPr>
      </p:sp>
      <p:sp>
        <p:nvSpPr>
          <p:cNvPr id="16" name="node gateway label"/>
          <p:cNvSpPr txBox="1"/>
          <p:nvPr/>
        </p:nvSpPr>
        <p:spPr>
          <a:xfrm>
            <a:off x="7955279" y="1700784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"/>
            <a:r>
              <a:rPr lang="en-US" sz="1200" b="1">
                <a:solidFill>
                  <a:srgbClr val="7A4B00"/>
                </a:solidFill>
                <a:latin typeface="Aptos"/>
              </a:rPr>
              <a:t>API Gateway</a:t>
            </a:r>
          </a:p>
        </p:txBody>
      </p:sp>
      <p:sp>
        <p:nvSpPr>
          <p:cNvPr id="17" name="node services"/>
          <p:cNvSpPr/>
          <p:nvPr/>
        </p:nvSpPr>
        <p:spPr>
          <a:xfrm>
            <a:off x="6446520" y="2743200"/>
            <a:ext cx="3611880" cy="1508760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6B7CFF"/>
            </a:solidFill>
          </a:ln>
        </p:spPr>
      </p:sp>
      <p:sp>
        <p:nvSpPr>
          <p:cNvPr id="18" name="node services label"/>
          <p:cNvSpPr txBox="1"/>
          <p:nvPr/>
        </p:nvSpPr>
        <p:spPr>
          <a:xfrm>
            <a:off x="6720840" y="2926080"/>
            <a:ext cx="3063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"/>
            <a:r>
              <a:rPr lang="en-US" sz="1400" b="1">
                <a:solidFill>
                  <a:srgbClr val="253189"/>
                </a:solidFill>
                <a:latin typeface="Aptos"/>
              </a:rPr>
              <a:t>Auth  Users  Startups</a:t>
            </a:r>
          </a:p>
          <a:p>
            <a:pPr algn="c"/>
            <a:r>
              <a:rPr lang="en-US" sz="1400" b="1">
                <a:solidFill>
                  <a:srgbClr val="253189"/>
                </a:solidFill>
                <a:latin typeface="Aptos"/>
              </a:rPr>
              <a:t>Investments  Teams  Messages</a:t>
            </a:r>
          </a:p>
        </p:txBody>
      </p:sp>
      <p:sp>
        <p:nvSpPr>
          <p:cNvPr id="19" name="node async"/>
          <p:cNvSpPr/>
          <p:nvPr/>
        </p:nvSpPr>
        <p:spPr>
          <a:xfrm>
            <a:off x="6583680" y="4572000"/>
            <a:ext cx="1508760" cy="594360"/>
          </a:xfrm>
          <a:prstGeom prst="roundRect">
            <a:avLst/>
          </a:prstGeom>
          <a:solidFill>
            <a:srgbClr val="FDEEF5"/>
          </a:solidFill>
          <a:ln w="9525">
            <a:solidFill>
              <a:srgbClr val="D84B87"/>
            </a:solidFill>
          </a:ln>
        </p:spPr>
      </p:sp>
      <p:sp>
        <p:nvSpPr>
          <p:cNvPr id="20" name="node async label"/>
          <p:cNvSpPr txBox="1"/>
          <p:nvPr/>
        </p:nvSpPr>
        <p:spPr>
          <a:xfrm>
            <a:off x="6720840" y="4745736"/>
            <a:ext cx="12344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"/>
            <a:r>
              <a:rPr lang="en-US" sz="1100" b="1">
                <a:solidFill>
                  <a:srgbClr val="842D53"/>
                </a:solidFill>
                <a:latin typeface="Aptos"/>
              </a:rPr>
              <a:t>RabbitMQ</a:t>
            </a:r>
          </a:p>
        </p:txBody>
      </p:sp>
      <p:sp>
        <p:nvSpPr>
          <p:cNvPr id="21" name="node data"/>
          <p:cNvSpPr/>
          <p:nvPr/>
        </p:nvSpPr>
        <p:spPr>
          <a:xfrm>
            <a:off x="8549640" y="4572000"/>
            <a:ext cx="1508760" cy="594360"/>
          </a:xfrm>
          <a:prstGeom prst="roundRect">
            <a:avLst/>
          </a:prstGeom>
          <a:solidFill>
            <a:srgbClr val="EBF7FF"/>
          </a:solidFill>
          <a:ln w="9525">
            <a:solidFill>
              <a:srgbClr val="3498DB"/>
            </a:solidFill>
          </a:ln>
        </p:spPr>
      </p:sp>
      <p:sp>
        <p:nvSpPr>
          <p:cNvPr id="22" name="node data label"/>
          <p:cNvSpPr txBox="1"/>
          <p:nvPr/>
        </p:nvSpPr>
        <p:spPr>
          <a:xfrm>
            <a:off x="8686800" y="4745736"/>
            <a:ext cx="12344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"/>
            <a:r>
              <a:rPr lang="en-US" sz="1100" b="1">
                <a:solidFill>
                  <a:srgbClr val="145A86"/>
                </a:solidFill>
                <a:latin typeface="Aptos"/>
              </a:rPr>
              <a:t>PostgreSQL</a:t>
            </a:r>
          </a:p>
        </p:txBody>
      </p:sp>
      <p:cxnSp>
        <p:nvCxnSpPr>
          <p:cNvPr id="23" name="flow 1"/>
          <p:cNvCxnSpPr/>
          <p:nvPr/>
        </p:nvCxnSpPr>
        <p:spPr>
          <a:xfrm>
            <a:off x="7315200" y="1828800"/>
            <a:ext cx="502920" cy="9144"/>
          </a:xfrm>
          <a:prstGeom prst="line">
            <a:avLst/>
          </a:prstGeom>
          <a:ln w="19050">
            <a:solidFill>
              <a:srgbClr val="68768A"/>
            </a:solidFill>
            <a:tailEnd type="triangle"/>
          </a:ln>
        </p:spPr>
      </p:cxnSp>
      <p:cxnSp>
        <p:nvCxnSpPr>
          <p:cNvPr id="24" name="flow 2"/>
          <p:cNvCxnSpPr/>
          <p:nvPr/>
        </p:nvCxnSpPr>
        <p:spPr>
          <a:xfrm flipH="1">
            <a:off x="8229600" y="2148840"/>
            <a:ext cx="411479" cy="594359"/>
          </a:xfrm>
          <a:prstGeom prst="line">
            <a:avLst/>
          </a:prstGeom>
          <a:ln w="19050">
            <a:solidFill>
              <a:srgbClr val="68768A"/>
            </a:solidFill>
            <a:tailEnd type="triangle"/>
          </a:ln>
        </p:spPr>
      </p:cxnSp>
      <p:cxnSp>
        <p:nvCxnSpPr>
          <p:cNvPr id="25" name="flow 3"/>
          <p:cNvCxnSpPr/>
          <p:nvPr/>
        </p:nvCxnSpPr>
        <p:spPr>
          <a:xfrm flipH="1">
            <a:off x="7315200" y="4251960"/>
            <a:ext cx="548639" cy="320039"/>
          </a:xfrm>
          <a:prstGeom prst="line">
            <a:avLst/>
          </a:prstGeom>
          <a:ln w="19050">
            <a:solidFill>
              <a:srgbClr val="68768A"/>
            </a:solidFill>
            <a:tailEnd type="triangle"/>
          </a:ln>
        </p:spPr>
      </p:cxnSp>
      <p:cxnSp>
        <p:nvCxnSpPr>
          <p:cNvPr id="26" name="flow 4"/>
          <p:cNvCxnSpPr/>
          <p:nvPr/>
        </p:nvCxnSpPr>
        <p:spPr>
          <a:xfrm>
            <a:off x="8503920" y="4251960"/>
            <a:ext cx="640079" cy="320039"/>
          </a:xfrm>
          <a:prstGeom prst="line">
            <a:avLst/>
          </a:prstGeom>
          <a:ln w="19050">
            <a:solidFill>
              <a:srgbClr val="68768A"/>
            </a:solidFill>
            <a:tailEnd type="triangl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2 kicker"/>
          <p:cNvSpPr txBox="1"/>
          <p:nvPr/>
        </p:nvSpPr>
        <p:spPr>
          <a:xfrm>
            <a:off x="502920" y="22860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000" b="1">
                <a:solidFill>
                  <a:srgbClr val="607089"/>
                </a:solidFill>
                <a:latin typeface="Aptos"/>
              </a:rPr>
              <a:t>WHY FOUNDERLINK</a:t>
            </a:r>
          </a:p>
        </p:txBody>
      </p:sp>
      <p:sp>
        <p:nvSpPr>
          <p:cNvPr id="11" name="slide 2 title"/>
          <p:cNvSpPr txBox="1"/>
          <p:nvPr/>
        </p:nvSpPr>
        <p:spPr>
          <a:xfrm>
            <a:off x="502920" y="475488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500" b="1">
                <a:solidFill>
                  <a:srgbClr val="17202A"/>
                </a:solidFill>
                <a:latin typeface="Aptos"/>
              </a:rPr>
              <a:t>Problem Statement</a:t>
            </a:r>
          </a:p>
        </p:txBody>
      </p:sp>
      <p:sp>
        <p:nvSpPr>
          <p:cNvPr id="12" name="slide 2 number"/>
          <p:cNvSpPr txBox="1"/>
          <p:nvPr/>
        </p:nvSpPr>
        <p:spPr>
          <a:xfrm>
            <a:off x="11201400" y="635508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900" b="1">
                <a:solidFill>
                  <a:srgbClr val="8A95A6"/>
                </a:solidFill>
                <a:latin typeface="Aptos"/>
              </a:rPr>
              <a:t>02</a:t>
            </a:r>
          </a:p>
        </p:txBody>
      </p:sp>
      <p:sp>
        <p:nvSpPr>
          <p:cNvPr id="20" name="problem statement"/>
          <p:cNvSpPr txBox="1"/>
          <p:nvPr/>
        </p:nvSpPr>
        <p:spPr>
          <a:xfrm>
            <a:off x="685800" y="1234440"/>
            <a:ext cx="484632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500" b="1">
                <a:solidFill>
                  <a:srgbClr val="17202A"/>
                </a:solidFill>
                <a:latin typeface="Aptos"/>
              </a:rPr>
              <a:t>Early startup collaboration is fragmented across profiles, pitches, investments, team discovery, chats, and email follow-ups.</a:t>
            </a:r>
          </a:p>
        </p:txBody>
      </p:sp>
      <p:sp>
        <p:nvSpPr>
          <p:cNvPr id="21" name="problem bullets"/>
          <p:cNvSpPr txBox="1"/>
          <p:nvPr/>
        </p:nvSpPr>
        <p:spPr>
          <a:xfrm>
            <a:off x="731520" y="2788920"/>
            <a:ext cx="4206240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800">
                <a:solidFill>
                  <a:srgbClr val="303B4A"/>
                </a:solidFill>
                <a:latin typeface="Aptos"/>
              </a:rPr>
              <a:t>• Founders need one place to publish and manage startup listings.</a:t>
            </a:r>
          </a:p>
          <a:p>
            <a:pPr algn="l"/>
            <a:r>
              <a:rPr lang="en-US" sz="1800">
                <a:solidFill>
                  <a:srgbClr val="303B4A"/>
                </a:solidFill>
                <a:latin typeface="Aptos"/>
              </a:rPr>
              <a:t>• Investors need approved startup discovery and investment status tracking.</a:t>
            </a:r>
          </a:p>
          <a:p>
            <a:pPr algn="l"/>
            <a:r>
              <a:rPr lang="en-US" sz="1800">
                <a:solidFill>
                  <a:srgbClr val="303B4A"/>
                </a:solidFill>
                <a:latin typeface="Aptos"/>
              </a:rPr>
              <a:t>• Co-founders need team invitations and role visibility.</a:t>
            </a:r>
          </a:p>
          <a:p>
            <a:pPr algn="l"/>
            <a:r>
              <a:rPr lang="en-US" sz="1800">
                <a:solidFill>
                  <a:srgbClr val="303B4A"/>
                </a:solidFill>
                <a:latin typeface="Aptos"/>
              </a:rPr>
              <a:t>• Admins need review controls without touching service internals.</a:t>
            </a:r>
          </a:p>
        </p:txBody>
      </p:sp>
      <p:sp>
        <p:nvSpPr>
          <p:cNvPr id="22" name="outcome band"/>
          <p:cNvSpPr/>
          <p:nvPr/>
        </p:nvSpPr>
        <p:spPr>
          <a:xfrm>
            <a:off x="6035040" y="1234440"/>
            <a:ext cx="4937760" cy="356616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</a:ln>
        </p:spPr>
      </p:sp>
      <p:sp>
        <p:nvSpPr>
          <p:cNvPr id="23" name="outcome title"/>
          <p:cNvSpPr txBox="1"/>
          <p:nvPr/>
        </p:nvSpPr>
        <p:spPr>
          <a:xfrm>
            <a:off x="6400800" y="160020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800" b="1">
                <a:solidFill>
                  <a:srgbClr val="9EE8CE"/>
                </a:solidFill>
                <a:latin typeface="Aptos"/>
              </a:rPr>
              <a:t>Project outcome</a:t>
            </a:r>
          </a:p>
        </p:txBody>
      </p:sp>
      <p:sp>
        <p:nvSpPr>
          <p:cNvPr id="24" name="outcome copy"/>
          <p:cNvSpPr txBox="1"/>
          <p:nvPr/>
        </p:nvSpPr>
        <p:spPr>
          <a:xfrm>
            <a:off x="6400800" y="2148840"/>
            <a:ext cx="4069080" cy="160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ptos"/>
              </a:rPr>
              <a:t>A role-based platform where each core business capability is isolated as a microservice and connected through a gateway, discovery, shared data stores, and async notifications.</a:t>
            </a:r>
          </a:p>
        </p:txBody>
      </p:sp>
      <p:sp>
        <p:nvSpPr>
          <p:cNvPr id="25" name="outcome note"/>
          <p:cNvSpPr txBox="1"/>
          <p:nvPr/>
        </p:nvSpPr>
        <p:spPr>
          <a:xfrm>
            <a:off x="6400800" y="41605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400">
                <a:solidFill>
                  <a:srgbClr val="C8D7E5"/>
                </a:solidFill>
                <a:latin typeface="Aptos"/>
              </a:rPr>
              <a:t>Single user journey, separate service ownership.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3 kicker"/>
          <p:cNvSpPr txBox="1"/>
          <p:nvPr/>
        </p:nvSpPr>
        <p:spPr>
          <a:xfrm>
            <a:off x="502920" y="22860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000" b="1">
                <a:solidFill>
                  <a:srgbClr val="607089"/>
                </a:solidFill>
                <a:latin typeface="Aptos"/>
              </a:rPr>
              <a:t>ARCHITECTURE</a:t>
            </a:r>
          </a:p>
        </p:txBody>
      </p:sp>
      <p:sp>
        <p:nvSpPr>
          <p:cNvPr id="11" name="slide 3 title"/>
          <p:cNvSpPr txBox="1"/>
          <p:nvPr/>
        </p:nvSpPr>
        <p:spPr>
          <a:xfrm>
            <a:off x="502920" y="475488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500" b="1">
                <a:solidFill>
                  <a:srgbClr val="17202A"/>
                </a:solidFill>
                <a:latin typeface="Aptos"/>
              </a:rPr>
              <a:t>Microservices Deployment View</a:t>
            </a:r>
          </a:p>
        </p:txBody>
      </p:sp>
      <p:sp>
        <p:nvSpPr>
          <p:cNvPr id="12" name="slide 3 number"/>
          <p:cNvSpPr txBox="1"/>
          <p:nvPr/>
        </p:nvSpPr>
        <p:spPr>
          <a:xfrm>
            <a:off x="11201400" y="635508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900" b="1">
                <a:solidFill>
                  <a:srgbClr val="8A95A6"/>
                </a:solidFill>
                <a:latin typeface="Aptos"/>
              </a:rPr>
              <a:t>03</a:t>
            </a:r>
          </a:p>
        </p:txBody>
      </p:sp>
      <p:sp>
        <p:nvSpPr>
          <p:cNvPr id="20" name="Angular&#10;:4200 node"/>
          <p:cNvSpPr/>
          <p:nvPr/>
        </p:nvSpPr>
        <p:spPr>
          <a:xfrm>
            <a:off x="822960" y="1463040"/>
            <a:ext cx="1417320" cy="658368"/>
          </a:xfrm>
          <a:prstGeom prst="roundRect">
            <a:avLst/>
          </a:prstGeom>
          <a:solidFill>
            <a:srgbClr val="E9F7F2"/>
          </a:solidFill>
          <a:ln w="9525">
            <a:solidFill>
              <a:srgbClr val="CBD5E1"/>
            </a:solidFill>
          </a:ln>
        </p:spPr>
      </p:sp>
      <p:sp>
        <p:nvSpPr>
          <p:cNvPr id="21" name="Angular&#10;:4200 text"/>
          <p:cNvSpPr txBox="1"/>
          <p:nvPr/>
        </p:nvSpPr>
        <p:spPr>
          <a:xfrm>
            <a:off x="914400" y="1591056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"/>
            <a:r>
              <a:rPr lang="en-US" sz="1000" b="1">
                <a:solidFill>
                  <a:srgbClr val="17202A"/>
                </a:solidFill>
                <a:latin typeface="Aptos"/>
              </a:rPr>
              <a:t>Angular</a:t>
            </a:r>
          </a:p>
          <a:p>
            <a:pPr algn="c"/>
            <a:r>
              <a:rPr lang="en-US" sz="1000" b="1">
                <a:solidFill>
                  <a:srgbClr val="17202A"/>
                </a:solidFill>
                <a:latin typeface="Aptos"/>
              </a:rPr>
              <a:t>:4200</a:t>
            </a:r>
          </a:p>
        </p:txBody>
      </p:sp>
      <p:sp>
        <p:nvSpPr>
          <p:cNvPr id="22" name="API Gateway&#10;:8080 node"/>
          <p:cNvSpPr/>
          <p:nvPr/>
        </p:nvSpPr>
        <p:spPr>
          <a:xfrm>
            <a:off x="2743200" y="1463040"/>
            <a:ext cx="1417320" cy="658368"/>
          </a:xfrm>
          <a:prstGeom prst="roundRect">
            <a:avLst/>
          </a:prstGeom>
          <a:solidFill>
            <a:srgbClr val="FFF0D8"/>
          </a:solidFill>
          <a:ln w="9525">
            <a:solidFill>
              <a:srgbClr val="CBD5E1"/>
            </a:solidFill>
          </a:ln>
        </p:spPr>
      </p:sp>
      <p:sp>
        <p:nvSpPr>
          <p:cNvPr id="23" name="API Gateway&#10;:8080 text"/>
          <p:cNvSpPr txBox="1"/>
          <p:nvPr/>
        </p:nvSpPr>
        <p:spPr>
          <a:xfrm>
            <a:off x="2834640" y="1591056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"/>
            <a:r>
              <a:rPr lang="en-US" sz="1000" b="1">
                <a:solidFill>
                  <a:srgbClr val="17202A"/>
                </a:solidFill>
                <a:latin typeface="Aptos"/>
              </a:rPr>
              <a:t>API Gateway</a:t>
            </a:r>
          </a:p>
          <a:p>
            <a:pPr algn="c"/>
            <a:r>
              <a:rPr lang="en-US" sz="1000" b="1">
                <a:solidFill>
                  <a:srgbClr val="17202A"/>
                </a:solidFill>
                <a:latin typeface="Aptos"/>
              </a:rPr>
              <a:t>:8080</a:t>
            </a:r>
          </a:p>
        </p:txBody>
      </p:sp>
      <p:sp>
        <p:nvSpPr>
          <p:cNvPr id="24" name="Config&#10;:8888 node"/>
          <p:cNvSpPr/>
          <p:nvPr/>
        </p:nvSpPr>
        <p:spPr>
          <a:xfrm>
            <a:off x="4800600" y="868680"/>
            <a:ext cx="141732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25" name="Config&#10;:8888 text"/>
          <p:cNvSpPr txBox="1"/>
          <p:nvPr/>
        </p:nvSpPr>
        <p:spPr>
          <a:xfrm>
            <a:off x="4892040" y="996695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"/>
            <a:r>
              <a:rPr lang="en-US" sz="1000" b="1">
                <a:solidFill>
                  <a:srgbClr val="17202A"/>
                </a:solidFill>
                <a:latin typeface="Aptos"/>
              </a:rPr>
              <a:t>Config</a:t>
            </a:r>
          </a:p>
          <a:p>
            <a:pPr algn="c"/>
            <a:r>
              <a:rPr lang="en-US" sz="1000" b="1">
                <a:solidFill>
                  <a:srgbClr val="17202A"/>
                </a:solidFill>
                <a:latin typeface="Aptos"/>
              </a:rPr>
              <a:t>:8888</a:t>
            </a:r>
          </a:p>
        </p:txBody>
      </p:sp>
      <p:sp>
        <p:nvSpPr>
          <p:cNvPr id="26" name="Eureka&#10;:8761 node"/>
          <p:cNvSpPr/>
          <p:nvPr/>
        </p:nvSpPr>
        <p:spPr>
          <a:xfrm>
            <a:off x="6583680" y="868680"/>
            <a:ext cx="141732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27" name="Eureka&#10;:8761 text"/>
          <p:cNvSpPr txBox="1"/>
          <p:nvPr/>
        </p:nvSpPr>
        <p:spPr>
          <a:xfrm>
            <a:off x="6675120" y="996695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"/>
            <a:r>
              <a:rPr lang="en-US" sz="1000" b="1">
                <a:solidFill>
                  <a:srgbClr val="17202A"/>
                </a:solidFill>
                <a:latin typeface="Aptos"/>
              </a:rPr>
              <a:t>Eureka</a:t>
            </a:r>
          </a:p>
          <a:p>
            <a:pPr algn="c"/>
            <a:r>
              <a:rPr lang="en-US" sz="1000" b="1">
                <a:solidFill>
                  <a:srgbClr val="17202A"/>
                </a:solidFill>
                <a:latin typeface="Aptos"/>
              </a:rPr>
              <a:t>:8761</a:t>
            </a:r>
          </a:p>
        </p:txBody>
      </p:sp>
      <p:sp>
        <p:nvSpPr>
          <p:cNvPr id="28" name="Auth&#10;:8081 node"/>
          <p:cNvSpPr/>
          <p:nvPr/>
        </p:nvSpPr>
        <p:spPr>
          <a:xfrm>
            <a:off x="4297680" y="2286000"/>
            <a:ext cx="1417320" cy="658368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BD5E1"/>
            </a:solidFill>
          </a:ln>
        </p:spPr>
      </p:sp>
      <p:sp>
        <p:nvSpPr>
          <p:cNvPr id="29" name="Auth&#10;:8081 text"/>
          <p:cNvSpPr txBox="1"/>
          <p:nvPr/>
        </p:nvSpPr>
        <p:spPr>
          <a:xfrm>
            <a:off x="4389120" y="2414016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"/>
            <a:r>
              <a:rPr lang="en-US" sz="1000" b="1">
                <a:solidFill>
                  <a:srgbClr val="17202A"/>
                </a:solidFill>
                <a:latin typeface="Aptos"/>
              </a:rPr>
              <a:t>Auth</a:t>
            </a:r>
          </a:p>
          <a:p>
            <a:pPr algn="c"/>
            <a:r>
              <a:rPr lang="en-US" sz="1000" b="1">
                <a:solidFill>
                  <a:srgbClr val="17202A"/>
                </a:solidFill>
                <a:latin typeface="Aptos"/>
              </a:rPr>
              <a:t>:8081</a:t>
            </a:r>
          </a:p>
        </p:txBody>
      </p:sp>
      <p:sp>
        <p:nvSpPr>
          <p:cNvPr id="30" name="Users&#10;:8082 node"/>
          <p:cNvSpPr/>
          <p:nvPr/>
        </p:nvSpPr>
        <p:spPr>
          <a:xfrm>
            <a:off x="5897880" y="2286000"/>
            <a:ext cx="1417320" cy="658368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BD5E1"/>
            </a:solidFill>
          </a:ln>
        </p:spPr>
      </p:sp>
      <p:sp>
        <p:nvSpPr>
          <p:cNvPr id="31" name="Users&#10;:8082 text"/>
          <p:cNvSpPr txBox="1"/>
          <p:nvPr/>
        </p:nvSpPr>
        <p:spPr>
          <a:xfrm>
            <a:off x="5989320" y="2414016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"/>
            <a:r>
              <a:rPr lang="en-US" sz="1000" b="1">
                <a:solidFill>
                  <a:srgbClr val="17202A"/>
                </a:solidFill>
                <a:latin typeface="Aptos"/>
              </a:rPr>
              <a:t>Users</a:t>
            </a:r>
          </a:p>
          <a:p>
            <a:pPr algn="c"/>
            <a:r>
              <a:rPr lang="en-US" sz="1000" b="1">
                <a:solidFill>
                  <a:srgbClr val="17202A"/>
                </a:solidFill>
                <a:latin typeface="Aptos"/>
              </a:rPr>
              <a:t>:8082</a:t>
            </a:r>
          </a:p>
        </p:txBody>
      </p:sp>
      <p:sp>
        <p:nvSpPr>
          <p:cNvPr id="32" name="Startups&#10;:8083 node"/>
          <p:cNvSpPr/>
          <p:nvPr/>
        </p:nvSpPr>
        <p:spPr>
          <a:xfrm>
            <a:off x="7498079" y="2286000"/>
            <a:ext cx="1417320" cy="658368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BD5E1"/>
            </a:solidFill>
          </a:ln>
        </p:spPr>
      </p:sp>
      <p:sp>
        <p:nvSpPr>
          <p:cNvPr id="33" name="Startups&#10;:8083 text"/>
          <p:cNvSpPr txBox="1"/>
          <p:nvPr/>
        </p:nvSpPr>
        <p:spPr>
          <a:xfrm>
            <a:off x="7589519" y="2414016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"/>
            <a:r>
              <a:rPr lang="en-US" sz="1000" b="1">
                <a:solidFill>
                  <a:srgbClr val="17202A"/>
                </a:solidFill>
                <a:latin typeface="Aptos"/>
              </a:rPr>
              <a:t>Startups</a:t>
            </a:r>
          </a:p>
          <a:p>
            <a:pPr algn="c"/>
            <a:r>
              <a:rPr lang="en-US" sz="1000" b="1">
                <a:solidFill>
                  <a:srgbClr val="17202A"/>
                </a:solidFill>
                <a:latin typeface="Aptos"/>
              </a:rPr>
              <a:t>:8083</a:t>
            </a:r>
          </a:p>
        </p:txBody>
      </p:sp>
      <p:sp>
        <p:nvSpPr>
          <p:cNvPr id="34" name="Investments&#10;:8084 node"/>
          <p:cNvSpPr/>
          <p:nvPr/>
        </p:nvSpPr>
        <p:spPr>
          <a:xfrm>
            <a:off x="9098280" y="2286000"/>
            <a:ext cx="1417320" cy="658368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BD5E1"/>
            </a:solidFill>
          </a:ln>
        </p:spPr>
      </p:sp>
      <p:sp>
        <p:nvSpPr>
          <p:cNvPr id="35" name="Investments&#10;:8084 text"/>
          <p:cNvSpPr txBox="1"/>
          <p:nvPr/>
        </p:nvSpPr>
        <p:spPr>
          <a:xfrm>
            <a:off x="9189719" y="2414016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"/>
            <a:r>
              <a:rPr lang="en-US" sz="1000" b="1">
                <a:solidFill>
                  <a:srgbClr val="17202A"/>
                </a:solidFill>
                <a:latin typeface="Aptos"/>
              </a:rPr>
              <a:t>Investments</a:t>
            </a:r>
          </a:p>
          <a:p>
            <a:pPr algn="c"/>
            <a:r>
              <a:rPr lang="en-US" sz="1000" b="1">
                <a:solidFill>
                  <a:srgbClr val="17202A"/>
                </a:solidFill>
                <a:latin typeface="Aptos"/>
              </a:rPr>
              <a:t>:8084</a:t>
            </a:r>
          </a:p>
        </p:txBody>
      </p:sp>
      <p:sp>
        <p:nvSpPr>
          <p:cNvPr id="36" name="Teams&#10;:8085 node"/>
          <p:cNvSpPr/>
          <p:nvPr/>
        </p:nvSpPr>
        <p:spPr>
          <a:xfrm>
            <a:off x="4297680" y="3337560"/>
            <a:ext cx="1417320" cy="658368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BD5E1"/>
            </a:solidFill>
          </a:ln>
        </p:spPr>
      </p:sp>
      <p:sp>
        <p:nvSpPr>
          <p:cNvPr id="37" name="Teams&#10;:8085 text"/>
          <p:cNvSpPr txBox="1"/>
          <p:nvPr/>
        </p:nvSpPr>
        <p:spPr>
          <a:xfrm>
            <a:off x="4389120" y="3465576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"/>
            <a:r>
              <a:rPr lang="en-US" sz="1000" b="1">
                <a:solidFill>
                  <a:srgbClr val="17202A"/>
                </a:solidFill>
                <a:latin typeface="Aptos"/>
              </a:rPr>
              <a:t>Teams</a:t>
            </a:r>
          </a:p>
          <a:p>
            <a:pPr algn="c"/>
            <a:r>
              <a:rPr lang="en-US" sz="1000" b="1">
                <a:solidFill>
                  <a:srgbClr val="17202A"/>
                </a:solidFill>
                <a:latin typeface="Aptos"/>
              </a:rPr>
              <a:t>:8085</a:t>
            </a:r>
          </a:p>
        </p:txBody>
      </p:sp>
      <p:sp>
        <p:nvSpPr>
          <p:cNvPr id="38" name="Messages&#10;:8086 node"/>
          <p:cNvSpPr/>
          <p:nvPr/>
        </p:nvSpPr>
        <p:spPr>
          <a:xfrm>
            <a:off x="5897880" y="3337560"/>
            <a:ext cx="1417320" cy="658368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BD5E1"/>
            </a:solidFill>
          </a:ln>
        </p:spPr>
      </p:sp>
      <p:sp>
        <p:nvSpPr>
          <p:cNvPr id="39" name="Messages&#10;:8086 text"/>
          <p:cNvSpPr txBox="1"/>
          <p:nvPr/>
        </p:nvSpPr>
        <p:spPr>
          <a:xfrm>
            <a:off x="5989320" y="3465576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"/>
            <a:r>
              <a:rPr lang="en-US" sz="1000" b="1">
                <a:solidFill>
                  <a:srgbClr val="17202A"/>
                </a:solidFill>
                <a:latin typeface="Aptos"/>
              </a:rPr>
              <a:t>Messages</a:t>
            </a:r>
          </a:p>
          <a:p>
            <a:pPr algn="c"/>
            <a:r>
              <a:rPr lang="en-US" sz="1000" b="1">
                <a:solidFill>
                  <a:srgbClr val="17202A"/>
                </a:solidFill>
                <a:latin typeface="Aptos"/>
              </a:rPr>
              <a:t>:8086</a:t>
            </a:r>
          </a:p>
        </p:txBody>
      </p:sp>
      <p:sp>
        <p:nvSpPr>
          <p:cNvPr id="40" name="Notifications&#10;:8087 node"/>
          <p:cNvSpPr/>
          <p:nvPr/>
        </p:nvSpPr>
        <p:spPr>
          <a:xfrm>
            <a:off x="7498079" y="3337560"/>
            <a:ext cx="1417320" cy="658368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BD5E1"/>
            </a:solidFill>
          </a:ln>
        </p:spPr>
      </p:sp>
      <p:sp>
        <p:nvSpPr>
          <p:cNvPr id="41" name="Notifications&#10;:8087 text"/>
          <p:cNvSpPr txBox="1"/>
          <p:nvPr/>
        </p:nvSpPr>
        <p:spPr>
          <a:xfrm>
            <a:off x="7589519" y="3465576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"/>
            <a:r>
              <a:rPr lang="en-US" sz="1000" b="1">
                <a:solidFill>
                  <a:srgbClr val="17202A"/>
                </a:solidFill>
                <a:latin typeface="Aptos"/>
              </a:rPr>
              <a:t>Notifications</a:t>
            </a:r>
          </a:p>
          <a:p>
            <a:pPr algn="c"/>
            <a:r>
              <a:rPr lang="en-US" sz="1000" b="1">
                <a:solidFill>
                  <a:srgbClr val="17202A"/>
                </a:solidFill>
                <a:latin typeface="Aptos"/>
              </a:rPr>
              <a:t>:8087</a:t>
            </a:r>
          </a:p>
        </p:txBody>
      </p:sp>
      <p:sp>
        <p:nvSpPr>
          <p:cNvPr id="42" name="PostgreSQL&#10;:5432 node"/>
          <p:cNvSpPr/>
          <p:nvPr/>
        </p:nvSpPr>
        <p:spPr>
          <a:xfrm>
            <a:off x="4572000" y="4709160"/>
            <a:ext cx="141732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43" name="PostgreSQL&#10;:5432 text"/>
          <p:cNvSpPr txBox="1"/>
          <p:nvPr/>
        </p:nvSpPr>
        <p:spPr>
          <a:xfrm>
            <a:off x="4663440" y="4837176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"/>
            <a:r>
              <a:rPr lang="en-US" sz="1000" b="1">
                <a:solidFill>
                  <a:srgbClr val="17202A"/>
                </a:solidFill>
                <a:latin typeface="Aptos"/>
              </a:rPr>
              <a:t>PostgreSQL</a:t>
            </a:r>
          </a:p>
          <a:p>
            <a:pPr algn="c"/>
            <a:r>
              <a:rPr lang="en-US" sz="1000" b="1">
                <a:solidFill>
                  <a:srgbClr val="17202A"/>
                </a:solidFill>
                <a:latin typeface="Aptos"/>
              </a:rPr>
              <a:t>:5432</a:t>
            </a:r>
          </a:p>
        </p:txBody>
      </p:sp>
      <p:sp>
        <p:nvSpPr>
          <p:cNvPr id="44" name="Redis&#10;:6379 node"/>
          <p:cNvSpPr/>
          <p:nvPr/>
        </p:nvSpPr>
        <p:spPr>
          <a:xfrm>
            <a:off x="6537960" y="4709160"/>
            <a:ext cx="141732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45" name="Redis&#10;:6379 text"/>
          <p:cNvSpPr txBox="1"/>
          <p:nvPr/>
        </p:nvSpPr>
        <p:spPr>
          <a:xfrm>
            <a:off x="6629400" y="4837176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"/>
            <a:r>
              <a:rPr lang="en-US" sz="1000" b="1">
                <a:solidFill>
                  <a:srgbClr val="17202A"/>
                </a:solidFill>
                <a:latin typeface="Aptos"/>
              </a:rPr>
              <a:t>Redis</a:t>
            </a:r>
          </a:p>
          <a:p>
            <a:pPr algn="c"/>
            <a:r>
              <a:rPr lang="en-US" sz="1000" b="1">
                <a:solidFill>
                  <a:srgbClr val="17202A"/>
                </a:solidFill>
                <a:latin typeface="Aptos"/>
              </a:rPr>
              <a:t>:6379</a:t>
            </a:r>
          </a:p>
        </p:txBody>
      </p:sp>
      <p:sp>
        <p:nvSpPr>
          <p:cNvPr id="46" name="RabbitMQ&#10;:5672 node"/>
          <p:cNvSpPr/>
          <p:nvPr/>
        </p:nvSpPr>
        <p:spPr>
          <a:xfrm>
            <a:off x="8503920" y="4709160"/>
            <a:ext cx="141732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47" name="RabbitMQ&#10;:5672 text"/>
          <p:cNvSpPr txBox="1"/>
          <p:nvPr/>
        </p:nvSpPr>
        <p:spPr>
          <a:xfrm>
            <a:off x="8595360" y="4837176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"/>
            <a:r>
              <a:rPr lang="en-US" sz="1000" b="1">
                <a:solidFill>
                  <a:srgbClr val="17202A"/>
                </a:solidFill>
                <a:latin typeface="Aptos"/>
              </a:rPr>
              <a:t>RabbitMQ</a:t>
            </a:r>
          </a:p>
          <a:p>
            <a:pPr algn="c"/>
            <a:r>
              <a:rPr lang="en-US" sz="1000" b="1">
                <a:solidFill>
                  <a:srgbClr val="17202A"/>
                </a:solidFill>
                <a:latin typeface="Aptos"/>
              </a:rPr>
              <a:t>:5672</a:t>
            </a:r>
          </a:p>
        </p:txBody>
      </p:sp>
      <p:cxnSp>
        <p:nvCxnSpPr>
          <p:cNvPr id="48" name="ui to gateway"/>
          <p:cNvCxnSpPr/>
          <p:nvPr/>
        </p:nvCxnSpPr>
        <p:spPr>
          <a:xfrm>
            <a:off x="2240280" y="1783080"/>
            <a:ext cx="502919" cy="9144"/>
          </a:xfrm>
          <a:prstGeom prst="line">
            <a:avLst/>
          </a:prstGeom>
          <a:ln w="19050">
            <a:solidFill>
              <a:srgbClr val="5B6472"/>
            </a:solidFill>
            <a:tailEnd type="triangle"/>
          </a:ln>
        </p:spPr>
      </p:cxnSp>
      <p:cxnSp>
        <p:nvCxnSpPr>
          <p:cNvPr id="49" name="gateway to services"/>
          <p:cNvCxnSpPr/>
          <p:nvPr/>
        </p:nvCxnSpPr>
        <p:spPr>
          <a:xfrm>
            <a:off x="3886200" y="1783080"/>
            <a:ext cx="1097280" cy="502920"/>
          </a:xfrm>
          <a:prstGeom prst="line">
            <a:avLst/>
          </a:prstGeom>
          <a:ln w="19050">
            <a:solidFill>
              <a:srgbClr val="5B6472"/>
            </a:solidFill>
            <a:tailEnd type="triangle"/>
          </a:ln>
        </p:spPr>
      </p:cxnSp>
      <p:cxnSp>
        <p:nvCxnSpPr>
          <p:cNvPr id="50" name="services to db"/>
          <p:cNvCxnSpPr/>
          <p:nvPr/>
        </p:nvCxnSpPr>
        <p:spPr>
          <a:xfrm flipH="1">
            <a:off x="5303520" y="3995928"/>
            <a:ext cx="1280160" cy="713232"/>
          </a:xfrm>
          <a:prstGeom prst="line">
            <a:avLst/>
          </a:prstGeom>
          <a:ln w="19050">
            <a:solidFill>
              <a:srgbClr val="5B6472"/>
            </a:solidFill>
            <a:tailEnd type="triangle"/>
          </a:ln>
        </p:spPr>
      </p:cxnSp>
      <p:cxnSp>
        <p:nvCxnSpPr>
          <p:cNvPr id="51" name="services to mq"/>
          <p:cNvCxnSpPr/>
          <p:nvPr/>
        </p:nvCxnSpPr>
        <p:spPr>
          <a:xfrm>
            <a:off x="8183879" y="3995928"/>
            <a:ext cx="960120" cy="713232"/>
          </a:xfrm>
          <a:prstGeom prst="line">
            <a:avLst/>
          </a:prstGeom>
          <a:ln w="19050">
            <a:solidFill>
              <a:srgbClr val="5B6472"/>
            </a:solidFill>
            <a:tailEnd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4 kicker"/>
          <p:cNvSpPr txBox="1"/>
          <p:nvPr/>
        </p:nvSpPr>
        <p:spPr>
          <a:xfrm>
            <a:off x="502920" y="22860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000" b="1">
                <a:solidFill>
                  <a:srgbClr val="607089"/>
                </a:solidFill>
                <a:latin typeface="Aptos"/>
              </a:rPr>
              <a:t>DATA MODEL</a:t>
            </a:r>
          </a:p>
        </p:txBody>
      </p:sp>
      <p:sp>
        <p:nvSpPr>
          <p:cNvPr id="11" name="slide 4 title"/>
          <p:cNvSpPr txBox="1"/>
          <p:nvPr/>
        </p:nvSpPr>
        <p:spPr>
          <a:xfrm>
            <a:off x="502920" y="475488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500" b="1">
                <a:solidFill>
                  <a:srgbClr val="17202A"/>
                </a:solidFill>
                <a:latin typeface="Aptos"/>
              </a:rPr>
              <a:t>ER Diagram</a:t>
            </a:r>
          </a:p>
        </p:txBody>
      </p:sp>
      <p:sp>
        <p:nvSpPr>
          <p:cNvPr id="12" name="slide 4 number"/>
          <p:cNvSpPr txBox="1"/>
          <p:nvPr/>
        </p:nvSpPr>
        <p:spPr>
          <a:xfrm>
            <a:off x="11201400" y="635508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900" b="1">
                <a:solidFill>
                  <a:srgbClr val="8A95A6"/>
                </a:solidFill>
                <a:latin typeface="Aptos"/>
              </a:rPr>
              <a:t>04</a:t>
            </a:r>
          </a:p>
        </p:txBody>
      </p:sp>
      <p:sp>
        <p:nvSpPr>
          <p:cNvPr id="20" name="users box"/>
          <p:cNvSpPr/>
          <p:nvPr/>
        </p:nvSpPr>
        <p:spPr>
          <a:xfrm>
            <a:off x="640080" y="1234440"/>
            <a:ext cx="19659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4DAE2"/>
            </a:solidFill>
          </a:ln>
        </p:spPr>
      </p:sp>
      <p:sp>
        <p:nvSpPr>
          <p:cNvPr id="21" name="users head"/>
          <p:cNvSpPr/>
          <p:nvPr/>
        </p:nvSpPr>
        <p:spPr>
          <a:xfrm>
            <a:off x="640080" y="1234440"/>
            <a:ext cx="1965960" cy="347472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</a:ln>
        </p:spPr>
      </p:sp>
      <p:sp>
        <p:nvSpPr>
          <p:cNvPr id="22" name="users title"/>
          <p:cNvSpPr txBox="1"/>
          <p:nvPr/>
        </p:nvSpPr>
        <p:spPr>
          <a:xfrm>
            <a:off x="749808" y="1307592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Aptos"/>
              </a:rPr>
              <a:t>users</a:t>
            </a:r>
          </a:p>
        </p:txBody>
      </p:sp>
      <p:sp>
        <p:nvSpPr>
          <p:cNvPr id="23" name="users row 0"/>
          <p:cNvSpPr txBox="1"/>
          <p:nvPr/>
        </p:nvSpPr>
        <p:spPr>
          <a:xfrm>
            <a:off x="749808" y="1673352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27313F"/>
                </a:solidFill>
                <a:latin typeface="Aptos"/>
              </a:rPr>
              <a:t>id PK</a:t>
            </a:r>
          </a:p>
        </p:txBody>
      </p:sp>
      <p:sp>
        <p:nvSpPr>
          <p:cNvPr id="24" name="users row 1"/>
          <p:cNvSpPr txBox="1"/>
          <p:nvPr/>
        </p:nvSpPr>
        <p:spPr>
          <a:xfrm>
            <a:off x="749808" y="1901952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27313F"/>
                </a:solidFill>
                <a:latin typeface="Aptos"/>
              </a:rPr>
              <a:t>email unique</a:t>
            </a:r>
          </a:p>
        </p:txBody>
      </p:sp>
      <p:sp>
        <p:nvSpPr>
          <p:cNvPr id="25" name="users row 2"/>
          <p:cNvSpPr txBox="1"/>
          <p:nvPr/>
        </p:nvSpPr>
        <p:spPr>
          <a:xfrm>
            <a:off x="749808" y="2130552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27313F"/>
                </a:solidFill>
                <a:latin typeface="Aptos"/>
              </a:rPr>
              <a:t>password</a:t>
            </a:r>
          </a:p>
        </p:txBody>
      </p:sp>
      <p:sp>
        <p:nvSpPr>
          <p:cNvPr id="26" name="users row 3"/>
          <p:cNvSpPr txBox="1"/>
          <p:nvPr/>
        </p:nvSpPr>
        <p:spPr>
          <a:xfrm>
            <a:off x="749808" y="2359152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27313F"/>
                </a:solidFill>
                <a:latin typeface="Aptos"/>
              </a:rPr>
              <a:t>enabled</a:t>
            </a:r>
          </a:p>
        </p:txBody>
      </p:sp>
      <p:sp>
        <p:nvSpPr>
          <p:cNvPr id="27" name="users row 4"/>
          <p:cNvSpPr txBox="1"/>
          <p:nvPr/>
        </p:nvSpPr>
        <p:spPr>
          <a:xfrm>
            <a:off x="749808" y="2587752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27313F"/>
                </a:solidFill>
                <a:latin typeface="Aptos"/>
              </a:rPr>
              <a:t>otp_code</a:t>
            </a:r>
          </a:p>
        </p:txBody>
      </p:sp>
      <p:sp>
        <p:nvSpPr>
          <p:cNvPr id="28" name="roles box"/>
          <p:cNvSpPr/>
          <p:nvPr/>
        </p:nvSpPr>
        <p:spPr>
          <a:xfrm>
            <a:off x="2788920" y="1234440"/>
            <a:ext cx="1965960" cy="1472184"/>
          </a:xfrm>
          <a:prstGeom prst="rect">
            <a:avLst/>
          </a:prstGeom>
          <a:solidFill>
            <a:srgbClr val="FFFFFF"/>
          </a:solidFill>
          <a:ln w="9525">
            <a:solidFill>
              <a:srgbClr val="D4DAE2"/>
            </a:solidFill>
          </a:ln>
        </p:spPr>
      </p:sp>
      <p:sp>
        <p:nvSpPr>
          <p:cNvPr id="29" name="roles head"/>
          <p:cNvSpPr/>
          <p:nvPr/>
        </p:nvSpPr>
        <p:spPr>
          <a:xfrm>
            <a:off x="2788920" y="1234440"/>
            <a:ext cx="1965960" cy="347472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</a:ln>
        </p:spPr>
      </p:sp>
      <p:sp>
        <p:nvSpPr>
          <p:cNvPr id="30" name="roles title"/>
          <p:cNvSpPr txBox="1"/>
          <p:nvPr/>
        </p:nvSpPr>
        <p:spPr>
          <a:xfrm>
            <a:off x="2898648" y="1307592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Aptos"/>
              </a:rPr>
              <a:t>roles</a:t>
            </a:r>
          </a:p>
        </p:txBody>
      </p:sp>
      <p:sp>
        <p:nvSpPr>
          <p:cNvPr id="31" name="roles row 0"/>
          <p:cNvSpPr txBox="1"/>
          <p:nvPr/>
        </p:nvSpPr>
        <p:spPr>
          <a:xfrm>
            <a:off x="2898648" y="1673352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27313F"/>
                </a:solidFill>
                <a:latin typeface="Aptos"/>
              </a:rPr>
              <a:t>id PK</a:t>
            </a:r>
          </a:p>
        </p:txBody>
      </p:sp>
      <p:sp>
        <p:nvSpPr>
          <p:cNvPr id="32" name="roles row 1"/>
          <p:cNvSpPr txBox="1"/>
          <p:nvPr/>
        </p:nvSpPr>
        <p:spPr>
          <a:xfrm>
            <a:off x="2898648" y="1901952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27313F"/>
                </a:solidFill>
                <a:latin typeface="Aptos"/>
              </a:rPr>
              <a:t>name</a:t>
            </a:r>
          </a:p>
        </p:txBody>
      </p:sp>
      <p:sp>
        <p:nvSpPr>
          <p:cNvPr id="33" name="user_roles box"/>
          <p:cNvSpPr/>
          <p:nvPr/>
        </p:nvSpPr>
        <p:spPr>
          <a:xfrm>
            <a:off x="1737360" y="2788920"/>
            <a:ext cx="1965960" cy="1682495"/>
          </a:xfrm>
          <a:prstGeom prst="rect">
            <a:avLst/>
          </a:prstGeom>
          <a:solidFill>
            <a:srgbClr val="FFFFFF"/>
          </a:solidFill>
          <a:ln w="9525">
            <a:solidFill>
              <a:srgbClr val="D4DAE2"/>
            </a:solidFill>
          </a:ln>
        </p:spPr>
      </p:sp>
      <p:sp>
        <p:nvSpPr>
          <p:cNvPr id="34" name="user_roles head"/>
          <p:cNvSpPr/>
          <p:nvPr/>
        </p:nvSpPr>
        <p:spPr>
          <a:xfrm>
            <a:off x="1737360" y="2788920"/>
            <a:ext cx="1965960" cy="347472"/>
          </a:xfrm>
          <a:prstGeom prst="rect">
            <a:avLst/>
          </a:prstGeom>
          <a:solidFill>
            <a:srgbClr val="20B486"/>
          </a:solidFill>
          <a:ln w="9525">
            <a:solidFill>
              <a:srgbClr val="20B486"/>
            </a:solidFill>
          </a:ln>
        </p:spPr>
      </p:sp>
      <p:sp>
        <p:nvSpPr>
          <p:cNvPr id="35" name="user_roles title"/>
          <p:cNvSpPr txBox="1"/>
          <p:nvPr/>
        </p:nvSpPr>
        <p:spPr>
          <a:xfrm>
            <a:off x="1847088" y="2862072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Aptos"/>
              </a:rPr>
              <a:t>user_roles</a:t>
            </a:r>
          </a:p>
        </p:txBody>
      </p:sp>
      <p:sp>
        <p:nvSpPr>
          <p:cNvPr id="36" name="user_roles row 0"/>
          <p:cNvSpPr txBox="1"/>
          <p:nvPr/>
        </p:nvSpPr>
        <p:spPr>
          <a:xfrm>
            <a:off x="1847088" y="3227832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27313F"/>
                </a:solidFill>
                <a:latin typeface="Aptos"/>
              </a:rPr>
              <a:t>id PK</a:t>
            </a:r>
          </a:p>
        </p:txBody>
      </p:sp>
      <p:sp>
        <p:nvSpPr>
          <p:cNvPr id="37" name="user_roles row 1"/>
          <p:cNvSpPr txBox="1"/>
          <p:nvPr/>
        </p:nvSpPr>
        <p:spPr>
          <a:xfrm>
            <a:off x="1847088" y="3456432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27313F"/>
                </a:solidFill>
                <a:latin typeface="Aptos"/>
              </a:rPr>
              <a:t>user_id FK</a:t>
            </a:r>
          </a:p>
        </p:txBody>
      </p:sp>
      <p:sp>
        <p:nvSpPr>
          <p:cNvPr id="38" name="user_roles row 2"/>
          <p:cNvSpPr txBox="1"/>
          <p:nvPr/>
        </p:nvSpPr>
        <p:spPr>
          <a:xfrm>
            <a:off x="1847088" y="3685031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27313F"/>
                </a:solidFill>
                <a:latin typeface="Aptos"/>
              </a:rPr>
              <a:t>role_id FK</a:t>
            </a:r>
          </a:p>
        </p:txBody>
      </p:sp>
      <p:sp>
        <p:nvSpPr>
          <p:cNvPr id="39" name="user_profiles box"/>
          <p:cNvSpPr/>
          <p:nvPr/>
        </p:nvSpPr>
        <p:spPr>
          <a:xfrm>
            <a:off x="4800600" y="1234440"/>
            <a:ext cx="19659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4DAE2"/>
            </a:solidFill>
          </a:ln>
        </p:spPr>
      </p:sp>
      <p:sp>
        <p:nvSpPr>
          <p:cNvPr id="40" name="user_profiles head"/>
          <p:cNvSpPr/>
          <p:nvPr/>
        </p:nvSpPr>
        <p:spPr>
          <a:xfrm>
            <a:off x="4800600" y="1234440"/>
            <a:ext cx="1965960" cy="347472"/>
          </a:xfrm>
          <a:prstGeom prst="rect">
            <a:avLst/>
          </a:prstGeom>
          <a:solidFill>
            <a:srgbClr val="3498DB"/>
          </a:solidFill>
          <a:ln w="9525">
            <a:solidFill>
              <a:srgbClr val="3498DB"/>
            </a:solidFill>
          </a:ln>
        </p:spPr>
      </p:sp>
      <p:sp>
        <p:nvSpPr>
          <p:cNvPr id="41" name="user_profiles title"/>
          <p:cNvSpPr txBox="1"/>
          <p:nvPr/>
        </p:nvSpPr>
        <p:spPr>
          <a:xfrm>
            <a:off x="4910328" y="1307592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Aptos"/>
              </a:rPr>
              <a:t>user_profiles</a:t>
            </a:r>
          </a:p>
        </p:txBody>
      </p:sp>
      <p:sp>
        <p:nvSpPr>
          <p:cNvPr id="42" name="user_profiles row 0"/>
          <p:cNvSpPr txBox="1"/>
          <p:nvPr/>
        </p:nvSpPr>
        <p:spPr>
          <a:xfrm>
            <a:off x="4910328" y="1673352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27313F"/>
                </a:solidFill>
                <a:latin typeface="Aptos"/>
              </a:rPr>
              <a:t>id PK</a:t>
            </a:r>
          </a:p>
        </p:txBody>
      </p:sp>
      <p:sp>
        <p:nvSpPr>
          <p:cNvPr id="43" name="user_profiles row 1"/>
          <p:cNvSpPr txBox="1"/>
          <p:nvPr/>
        </p:nvSpPr>
        <p:spPr>
          <a:xfrm>
            <a:off x="4910328" y="1901952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27313F"/>
                </a:solidFill>
                <a:latin typeface="Aptos"/>
              </a:rPr>
              <a:t>name</a:t>
            </a:r>
          </a:p>
        </p:txBody>
      </p:sp>
      <p:sp>
        <p:nvSpPr>
          <p:cNvPr id="44" name="user_profiles row 2"/>
          <p:cNvSpPr txBox="1"/>
          <p:nvPr/>
        </p:nvSpPr>
        <p:spPr>
          <a:xfrm>
            <a:off x="4910328" y="2130552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27313F"/>
                </a:solidFill>
                <a:latin typeface="Aptos"/>
              </a:rPr>
              <a:t>email</a:t>
            </a:r>
          </a:p>
        </p:txBody>
      </p:sp>
      <p:sp>
        <p:nvSpPr>
          <p:cNvPr id="45" name="user_profiles row 3"/>
          <p:cNvSpPr txBox="1"/>
          <p:nvPr/>
        </p:nvSpPr>
        <p:spPr>
          <a:xfrm>
            <a:off x="4910328" y="2359152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27313F"/>
                </a:solidFill>
                <a:latin typeface="Aptos"/>
              </a:rPr>
              <a:t>skills</a:t>
            </a:r>
          </a:p>
        </p:txBody>
      </p:sp>
      <p:sp>
        <p:nvSpPr>
          <p:cNvPr id="46" name="user_profiles row 4"/>
          <p:cNvSpPr txBox="1"/>
          <p:nvPr/>
        </p:nvSpPr>
        <p:spPr>
          <a:xfrm>
            <a:off x="4910328" y="2587752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27313F"/>
                </a:solidFill>
                <a:latin typeface="Aptos"/>
              </a:rPr>
              <a:t>location</a:t>
            </a:r>
          </a:p>
        </p:txBody>
      </p:sp>
      <p:sp>
        <p:nvSpPr>
          <p:cNvPr id="47" name="startups box"/>
          <p:cNvSpPr/>
          <p:nvPr/>
        </p:nvSpPr>
        <p:spPr>
          <a:xfrm>
            <a:off x="6995160" y="1234440"/>
            <a:ext cx="19659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4DAE2"/>
            </a:solidFill>
          </a:ln>
        </p:spPr>
      </p:sp>
      <p:sp>
        <p:nvSpPr>
          <p:cNvPr id="48" name="startups head"/>
          <p:cNvSpPr/>
          <p:nvPr/>
        </p:nvSpPr>
        <p:spPr>
          <a:xfrm>
            <a:off x="6995160" y="1234440"/>
            <a:ext cx="1965960" cy="347472"/>
          </a:xfrm>
          <a:prstGeom prst="rect">
            <a:avLst/>
          </a:prstGeom>
          <a:solidFill>
            <a:srgbClr val="6B7CFF"/>
          </a:solidFill>
          <a:ln w="9525">
            <a:solidFill>
              <a:srgbClr val="6B7CFF"/>
            </a:solidFill>
          </a:ln>
        </p:spPr>
      </p:sp>
      <p:sp>
        <p:nvSpPr>
          <p:cNvPr id="49" name="startups title"/>
          <p:cNvSpPr txBox="1"/>
          <p:nvPr/>
        </p:nvSpPr>
        <p:spPr>
          <a:xfrm>
            <a:off x="7104888" y="1307592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Aptos"/>
              </a:rPr>
              <a:t>startups</a:t>
            </a:r>
          </a:p>
        </p:txBody>
      </p:sp>
      <p:sp>
        <p:nvSpPr>
          <p:cNvPr id="50" name="startups row 0"/>
          <p:cNvSpPr txBox="1"/>
          <p:nvPr/>
        </p:nvSpPr>
        <p:spPr>
          <a:xfrm>
            <a:off x="7104888" y="1673352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27313F"/>
                </a:solidFill>
                <a:latin typeface="Aptos"/>
              </a:rPr>
              <a:t>id PK</a:t>
            </a:r>
          </a:p>
        </p:txBody>
      </p:sp>
      <p:sp>
        <p:nvSpPr>
          <p:cNvPr id="51" name="startups row 1"/>
          <p:cNvSpPr txBox="1"/>
          <p:nvPr/>
        </p:nvSpPr>
        <p:spPr>
          <a:xfrm>
            <a:off x="7104888" y="1901952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27313F"/>
                </a:solidFill>
                <a:latin typeface="Aptos"/>
              </a:rPr>
              <a:t>user_id founder</a:t>
            </a:r>
          </a:p>
        </p:txBody>
      </p:sp>
      <p:sp>
        <p:nvSpPr>
          <p:cNvPr id="52" name="startups row 2"/>
          <p:cNvSpPr txBox="1"/>
          <p:nvPr/>
        </p:nvSpPr>
        <p:spPr>
          <a:xfrm>
            <a:off x="7104888" y="2130552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27313F"/>
                </a:solidFill>
                <a:latin typeface="Aptos"/>
              </a:rPr>
              <a:t>title</a:t>
            </a:r>
          </a:p>
        </p:txBody>
      </p:sp>
      <p:sp>
        <p:nvSpPr>
          <p:cNvPr id="53" name="startups row 3"/>
          <p:cNvSpPr txBox="1"/>
          <p:nvPr/>
        </p:nvSpPr>
        <p:spPr>
          <a:xfrm>
            <a:off x="7104888" y="2359152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27313F"/>
                </a:solidFill>
                <a:latin typeface="Aptos"/>
              </a:rPr>
              <a:t>status</a:t>
            </a:r>
          </a:p>
        </p:txBody>
      </p:sp>
      <p:sp>
        <p:nvSpPr>
          <p:cNvPr id="54" name="startups row 4"/>
          <p:cNvSpPr txBox="1"/>
          <p:nvPr/>
        </p:nvSpPr>
        <p:spPr>
          <a:xfrm>
            <a:off x="7104888" y="2587752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27313F"/>
                </a:solidFill>
                <a:latin typeface="Aptos"/>
              </a:rPr>
              <a:t>funding_goal</a:t>
            </a:r>
          </a:p>
        </p:txBody>
      </p:sp>
      <p:sp>
        <p:nvSpPr>
          <p:cNvPr id="55" name="investments box"/>
          <p:cNvSpPr/>
          <p:nvPr/>
        </p:nvSpPr>
        <p:spPr>
          <a:xfrm>
            <a:off x="9144000" y="1234440"/>
            <a:ext cx="19659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4DAE2"/>
            </a:solidFill>
          </a:ln>
        </p:spPr>
      </p:sp>
      <p:sp>
        <p:nvSpPr>
          <p:cNvPr id="56" name="investments head"/>
          <p:cNvSpPr/>
          <p:nvPr/>
        </p:nvSpPr>
        <p:spPr>
          <a:xfrm>
            <a:off x="9144000" y="1234440"/>
            <a:ext cx="1965960" cy="347472"/>
          </a:xfrm>
          <a:prstGeom prst="rect">
            <a:avLst/>
          </a:prstGeom>
          <a:solidFill>
            <a:srgbClr val="F5A524"/>
          </a:solidFill>
          <a:ln w="9525">
            <a:solidFill>
              <a:srgbClr val="F5A524"/>
            </a:solidFill>
          </a:ln>
        </p:spPr>
      </p:sp>
      <p:sp>
        <p:nvSpPr>
          <p:cNvPr id="57" name="investments title"/>
          <p:cNvSpPr txBox="1"/>
          <p:nvPr/>
        </p:nvSpPr>
        <p:spPr>
          <a:xfrm>
            <a:off x="9253728" y="1307592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Aptos"/>
              </a:rPr>
              <a:t>investments</a:t>
            </a:r>
          </a:p>
        </p:txBody>
      </p:sp>
      <p:sp>
        <p:nvSpPr>
          <p:cNvPr id="58" name="investments row 0"/>
          <p:cNvSpPr txBox="1"/>
          <p:nvPr/>
        </p:nvSpPr>
        <p:spPr>
          <a:xfrm>
            <a:off x="9253728" y="1673352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27313F"/>
                </a:solidFill>
                <a:latin typeface="Aptos"/>
              </a:rPr>
              <a:t>id PK</a:t>
            </a:r>
          </a:p>
        </p:txBody>
      </p:sp>
      <p:sp>
        <p:nvSpPr>
          <p:cNvPr id="59" name="investments row 1"/>
          <p:cNvSpPr txBox="1"/>
          <p:nvPr/>
        </p:nvSpPr>
        <p:spPr>
          <a:xfrm>
            <a:off x="9253728" y="1901952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27313F"/>
                </a:solidFill>
                <a:latin typeface="Aptos"/>
              </a:rPr>
              <a:t>startup_id</a:t>
            </a:r>
          </a:p>
        </p:txBody>
      </p:sp>
      <p:sp>
        <p:nvSpPr>
          <p:cNvPr id="60" name="investments row 2"/>
          <p:cNvSpPr txBox="1"/>
          <p:nvPr/>
        </p:nvSpPr>
        <p:spPr>
          <a:xfrm>
            <a:off x="9253728" y="2130552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27313F"/>
                </a:solidFill>
                <a:latin typeface="Aptos"/>
              </a:rPr>
              <a:t>investor_id</a:t>
            </a:r>
          </a:p>
        </p:txBody>
      </p:sp>
      <p:sp>
        <p:nvSpPr>
          <p:cNvPr id="61" name="investments row 3"/>
          <p:cNvSpPr txBox="1"/>
          <p:nvPr/>
        </p:nvSpPr>
        <p:spPr>
          <a:xfrm>
            <a:off x="9253728" y="2359152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27313F"/>
                </a:solidFill>
                <a:latin typeface="Aptos"/>
              </a:rPr>
              <a:t>amount</a:t>
            </a:r>
          </a:p>
        </p:txBody>
      </p:sp>
      <p:sp>
        <p:nvSpPr>
          <p:cNvPr id="62" name="investments row 4"/>
          <p:cNvSpPr txBox="1"/>
          <p:nvPr/>
        </p:nvSpPr>
        <p:spPr>
          <a:xfrm>
            <a:off x="9253728" y="2587752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27313F"/>
                </a:solidFill>
                <a:latin typeface="Aptos"/>
              </a:rPr>
              <a:t>status</a:t>
            </a:r>
          </a:p>
        </p:txBody>
      </p:sp>
      <p:sp>
        <p:nvSpPr>
          <p:cNvPr id="63" name="teams box"/>
          <p:cNvSpPr/>
          <p:nvPr/>
        </p:nvSpPr>
        <p:spPr>
          <a:xfrm>
            <a:off x="6995160" y="3703320"/>
            <a:ext cx="19659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4DAE2"/>
            </a:solidFill>
          </a:ln>
        </p:spPr>
      </p:sp>
      <p:sp>
        <p:nvSpPr>
          <p:cNvPr id="64" name="teams head"/>
          <p:cNvSpPr/>
          <p:nvPr/>
        </p:nvSpPr>
        <p:spPr>
          <a:xfrm>
            <a:off x="6995160" y="3703320"/>
            <a:ext cx="1965960" cy="347472"/>
          </a:xfrm>
          <a:prstGeom prst="rect">
            <a:avLst/>
          </a:prstGeom>
          <a:solidFill>
            <a:srgbClr val="D84B87"/>
          </a:solidFill>
          <a:ln w="9525">
            <a:solidFill>
              <a:srgbClr val="D84B87"/>
            </a:solidFill>
          </a:ln>
        </p:spPr>
      </p:sp>
      <p:sp>
        <p:nvSpPr>
          <p:cNvPr id="65" name="teams title"/>
          <p:cNvSpPr txBox="1"/>
          <p:nvPr/>
        </p:nvSpPr>
        <p:spPr>
          <a:xfrm>
            <a:off x="7104888" y="3776472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Aptos"/>
              </a:rPr>
              <a:t>teams</a:t>
            </a:r>
          </a:p>
        </p:txBody>
      </p:sp>
      <p:sp>
        <p:nvSpPr>
          <p:cNvPr id="66" name="teams row 0"/>
          <p:cNvSpPr txBox="1"/>
          <p:nvPr/>
        </p:nvSpPr>
        <p:spPr>
          <a:xfrm>
            <a:off x="7104888" y="4142231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27313F"/>
                </a:solidFill>
                <a:latin typeface="Aptos"/>
              </a:rPr>
              <a:t>id PK</a:t>
            </a:r>
          </a:p>
        </p:txBody>
      </p:sp>
      <p:sp>
        <p:nvSpPr>
          <p:cNvPr id="67" name="teams row 1"/>
          <p:cNvSpPr txBox="1"/>
          <p:nvPr/>
        </p:nvSpPr>
        <p:spPr>
          <a:xfrm>
            <a:off x="7104888" y="4370831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27313F"/>
                </a:solidFill>
                <a:latin typeface="Aptos"/>
              </a:rPr>
              <a:t>startup_id</a:t>
            </a:r>
          </a:p>
        </p:txBody>
      </p:sp>
      <p:sp>
        <p:nvSpPr>
          <p:cNvPr id="68" name="teams row 2"/>
          <p:cNvSpPr txBox="1"/>
          <p:nvPr/>
        </p:nvSpPr>
        <p:spPr>
          <a:xfrm>
            <a:off x="7104888" y="4599431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27313F"/>
                </a:solidFill>
                <a:latin typeface="Aptos"/>
              </a:rPr>
              <a:t>user_id</a:t>
            </a:r>
          </a:p>
        </p:txBody>
      </p:sp>
      <p:sp>
        <p:nvSpPr>
          <p:cNvPr id="69" name="teams row 3"/>
          <p:cNvSpPr txBox="1"/>
          <p:nvPr/>
        </p:nvSpPr>
        <p:spPr>
          <a:xfrm>
            <a:off x="7104888" y="4828031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27313F"/>
                </a:solidFill>
                <a:latin typeface="Aptos"/>
              </a:rPr>
              <a:t>role</a:t>
            </a:r>
          </a:p>
        </p:txBody>
      </p:sp>
      <p:sp>
        <p:nvSpPr>
          <p:cNvPr id="70" name="teams row 4"/>
          <p:cNvSpPr txBox="1"/>
          <p:nvPr/>
        </p:nvSpPr>
        <p:spPr>
          <a:xfrm>
            <a:off x="7104888" y="5056631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27313F"/>
                </a:solidFill>
                <a:latin typeface="Aptos"/>
              </a:rPr>
              <a:t>status</a:t>
            </a:r>
          </a:p>
        </p:txBody>
      </p:sp>
      <p:sp>
        <p:nvSpPr>
          <p:cNvPr id="71" name="conversations box"/>
          <p:cNvSpPr/>
          <p:nvPr/>
        </p:nvSpPr>
        <p:spPr>
          <a:xfrm>
            <a:off x="3611880" y="4251960"/>
            <a:ext cx="1965960" cy="1682495"/>
          </a:xfrm>
          <a:prstGeom prst="rect">
            <a:avLst/>
          </a:prstGeom>
          <a:solidFill>
            <a:srgbClr val="FFFFFF"/>
          </a:solidFill>
          <a:ln w="9525">
            <a:solidFill>
              <a:srgbClr val="D4DAE2"/>
            </a:solidFill>
          </a:ln>
        </p:spPr>
      </p:sp>
      <p:sp>
        <p:nvSpPr>
          <p:cNvPr id="72" name="conversations head"/>
          <p:cNvSpPr/>
          <p:nvPr/>
        </p:nvSpPr>
        <p:spPr>
          <a:xfrm>
            <a:off x="3611880" y="4251960"/>
            <a:ext cx="1965960" cy="347472"/>
          </a:xfrm>
          <a:prstGeom prst="rect">
            <a:avLst/>
          </a:prstGeom>
          <a:solidFill>
            <a:srgbClr val="607089"/>
          </a:solidFill>
          <a:ln w="9525">
            <a:solidFill>
              <a:srgbClr val="607089"/>
            </a:solidFill>
          </a:ln>
        </p:spPr>
      </p:sp>
      <p:sp>
        <p:nvSpPr>
          <p:cNvPr id="73" name="conversations title"/>
          <p:cNvSpPr txBox="1"/>
          <p:nvPr/>
        </p:nvSpPr>
        <p:spPr>
          <a:xfrm>
            <a:off x="3721608" y="4325112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Aptos"/>
              </a:rPr>
              <a:t>conversations</a:t>
            </a:r>
          </a:p>
        </p:txBody>
      </p:sp>
      <p:sp>
        <p:nvSpPr>
          <p:cNvPr id="74" name="conversations row 0"/>
          <p:cNvSpPr txBox="1"/>
          <p:nvPr/>
        </p:nvSpPr>
        <p:spPr>
          <a:xfrm>
            <a:off x="3721608" y="4690872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27313F"/>
                </a:solidFill>
                <a:latin typeface="Aptos"/>
              </a:rPr>
              <a:t>id PK</a:t>
            </a:r>
          </a:p>
        </p:txBody>
      </p:sp>
      <p:sp>
        <p:nvSpPr>
          <p:cNvPr id="75" name="conversations row 1"/>
          <p:cNvSpPr txBox="1"/>
          <p:nvPr/>
        </p:nvSpPr>
        <p:spPr>
          <a:xfrm>
            <a:off x="3721608" y="4919472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27313F"/>
                </a:solidFill>
                <a:latin typeface="Aptos"/>
              </a:rPr>
              <a:t>user1_id</a:t>
            </a:r>
          </a:p>
        </p:txBody>
      </p:sp>
      <p:sp>
        <p:nvSpPr>
          <p:cNvPr id="76" name="conversations row 2"/>
          <p:cNvSpPr txBox="1"/>
          <p:nvPr/>
        </p:nvSpPr>
        <p:spPr>
          <a:xfrm>
            <a:off x="3721608" y="5148072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27313F"/>
                </a:solidFill>
                <a:latin typeface="Aptos"/>
              </a:rPr>
              <a:t>user2_id</a:t>
            </a:r>
          </a:p>
        </p:txBody>
      </p:sp>
      <p:sp>
        <p:nvSpPr>
          <p:cNvPr id="77" name="messages box"/>
          <p:cNvSpPr/>
          <p:nvPr/>
        </p:nvSpPr>
        <p:spPr>
          <a:xfrm>
            <a:off x="1143000" y="4572000"/>
            <a:ext cx="19659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4DAE2"/>
            </a:solidFill>
          </a:ln>
        </p:spPr>
      </p:sp>
      <p:sp>
        <p:nvSpPr>
          <p:cNvPr id="78" name="messages head"/>
          <p:cNvSpPr/>
          <p:nvPr/>
        </p:nvSpPr>
        <p:spPr>
          <a:xfrm>
            <a:off x="1143000" y="4572000"/>
            <a:ext cx="1965960" cy="347472"/>
          </a:xfrm>
          <a:prstGeom prst="rect">
            <a:avLst/>
          </a:prstGeom>
          <a:solidFill>
            <a:srgbClr val="607089"/>
          </a:solidFill>
          <a:ln w="9525">
            <a:solidFill>
              <a:srgbClr val="607089"/>
            </a:solidFill>
          </a:ln>
        </p:spPr>
      </p:sp>
      <p:sp>
        <p:nvSpPr>
          <p:cNvPr id="79" name="messages title"/>
          <p:cNvSpPr txBox="1"/>
          <p:nvPr/>
        </p:nvSpPr>
        <p:spPr>
          <a:xfrm>
            <a:off x="1252728" y="4645152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Aptos"/>
              </a:rPr>
              <a:t>messages</a:t>
            </a:r>
          </a:p>
        </p:txBody>
      </p:sp>
      <p:sp>
        <p:nvSpPr>
          <p:cNvPr id="80" name="messages row 0"/>
          <p:cNvSpPr txBox="1"/>
          <p:nvPr/>
        </p:nvSpPr>
        <p:spPr>
          <a:xfrm>
            <a:off x="1252728" y="5010912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27313F"/>
                </a:solidFill>
                <a:latin typeface="Aptos"/>
              </a:rPr>
              <a:t>id PK</a:t>
            </a:r>
          </a:p>
        </p:txBody>
      </p:sp>
      <p:sp>
        <p:nvSpPr>
          <p:cNvPr id="81" name="messages row 1"/>
          <p:cNvSpPr txBox="1"/>
          <p:nvPr/>
        </p:nvSpPr>
        <p:spPr>
          <a:xfrm>
            <a:off x="1252728" y="5239512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27313F"/>
                </a:solidFill>
                <a:latin typeface="Aptos"/>
              </a:rPr>
              <a:t>conversation_id</a:t>
            </a:r>
          </a:p>
        </p:txBody>
      </p:sp>
      <p:sp>
        <p:nvSpPr>
          <p:cNvPr id="82" name="messages row 2"/>
          <p:cNvSpPr txBox="1"/>
          <p:nvPr/>
        </p:nvSpPr>
        <p:spPr>
          <a:xfrm>
            <a:off x="1252728" y="5468112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27313F"/>
                </a:solidFill>
                <a:latin typeface="Aptos"/>
              </a:rPr>
              <a:t>sender_id</a:t>
            </a:r>
          </a:p>
        </p:txBody>
      </p:sp>
      <p:sp>
        <p:nvSpPr>
          <p:cNvPr id="83" name="messages row 3"/>
          <p:cNvSpPr txBox="1"/>
          <p:nvPr/>
        </p:nvSpPr>
        <p:spPr>
          <a:xfrm>
            <a:off x="1252728" y="5696712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27313F"/>
                </a:solidFill>
                <a:latin typeface="Aptos"/>
              </a:rPr>
              <a:t>content</a:t>
            </a:r>
          </a:p>
        </p:txBody>
      </p:sp>
      <p:sp>
        <p:nvSpPr>
          <p:cNvPr id="84" name="messages row 4"/>
          <p:cNvSpPr txBox="1"/>
          <p:nvPr/>
        </p:nvSpPr>
        <p:spPr>
          <a:xfrm>
            <a:off x="1252728" y="5925312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27313F"/>
                </a:solidFill>
                <a:latin typeface="Aptos"/>
              </a:rPr>
              <a:t>timestamp</a:t>
            </a:r>
          </a:p>
        </p:txBody>
      </p:sp>
      <p:cxnSp>
        <p:nvCxnSpPr>
          <p:cNvPr id="85" name="users roles"/>
          <p:cNvCxnSpPr/>
          <p:nvPr/>
        </p:nvCxnSpPr>
        <p:spPr>
          <a:xfrm>
            <a:off x="1965960" y="2011680"/>
            <a:ext cx="411480" cy="777239"/>
          </a:xfrm>
          <a:prstGeom prst="line">
            <a:avLst/>
          </a:prstGeom>
          <a:ln w="19050">
            <a:solidFill>
              <a:srgbClr val="5B6472"/>
            </a:solidFill>
            <a:tailEnd type="triangle"/>
          </a:ln>
        </p:spPr>
      </p:cxnSp>
      <p:cxnSp>
        <p:nvCxnSpPr>
          <p:cNvPr id="86" name="roles userroles"/>
          <p:cNvCxnSpPr/>
          <p:nvPr/>
        </p:nvCxnSpPr>
        <p:spPr>
          <a:xfrm flipH="1">
            <a:off x="2971800" y="2011680"/>
            <a:ext cx="274319" cy="777239"/>
          </a:xfrm>
          <a:prstGeom prst="line">
            <a:avLst/>
          </a:prstGeom>
          <a:ln w="19050">
            <a:solidFill>
              <a:srgbClr val="5B6472"/>
            </a:solidFill>
            <a:tailEnd type="triangle"/>
          </a:ln>
        </p:spPr>
      </p:cxnSp>
      <p:cxnSp>
        <p:nvCxnSpPr>
          <p:cNvPr id="87" name="profile startup"/>
          <p:cNvCxnSpPr/>
          <p:nvPr/>
        </p:nvCxnSpPr>
        <p:spPr>
          <a:xfrm>
            <a:off x="6766560" y="1783080"/>
            <a:ext cx="228600" cy="9144"/>
          </a:xfrm>
          <a:prstGeom prst="line">
            <a:avLst/>
          </a:prstGeom>
          <a:ln w="19050">
            <a:solidFill>
              <a:srgbClr val="5B6472"/>
            </a:solidFill>
            <a:tailEnd type="triangle"/>
          </a:ln>
        </p:spPr>
      </p:cxnSp>
      <p:cxnSp>
        <p:nvCxnSpPr>
          <p:cNvPr id="88" name="startup investment"/>
          <p:cNvCxnSpPr/>
          <p:nvPr/>
        </p:nvCxnSpPr>
        <p:spPr>
          <a:xfrm>
            <a:off x="8961120" y="1783080"/>
            <a:ext cx="182879" cy="9144"/>
          </a:xfrm>
          <a:prstGeom prst="line">
            <a:avLst/>
          </a:prstGeom>
          <a:ln w="19050">
            <a:solidFill>
              <a:srgbClr val="5B6472"/>
            </a:solidFill>
            <a:tailEnd type="triangle"/>
          </a:ln>
        </p:spPr>
      </p:cxnSp>
      <p:cxnSp>
        <p:nvCxnSpPr>
          <p:cNvPr id="89" name="startup team"/>
          <p:cNvCxnSpPr/>
          <p:nvPr/>
        </p:nvCxnSpPr>
        <p:spPr>
          <a:xfrm>
            <a:off x="7818120" y="2971800"/>
            <a:ext cx="9144" cy="731519"/>
          </a:xfrm>
          <a:prstGeom prst="line">
            <a:avLst/>
          </a:prstGeom>
          <a:ln w="19050">
            <a:solidFill>
              <a:srgbClr val="5B6472"/>
            </a:solidFill>
            <a:tailEnd type="triangle"/>
          </a:ln>
        </p:spPr>
      </p:cxnSp>
      <p:cxnSp>
        <p:nvCxnSpPr>
          <p:cNvPr id="90" name="conversation messages"/>
          <p:cNvCxnSpPr/>
          <p:nvPr/>
        </p:nvCxnSpPr>
        <p:spPr>
          <a:xfrm flipH="1">
            <a:off x="3108960" y="4800600"/>
            <a:ext cx="502920" cy="182880"/>
          </a:xfrm>
          <a:prstGeom prst="line">
            <a:avLst/>
          </a:prstGeom>
          <a:ln w="19050">
            <a:solidFill>
              <a:srgbClr val="5B6472"/>
            </a:solidFill>
            <a:tailEnd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5 kicker"/>
          <p:cNvSpPr txBox="1"/>
          <p:nvPr/>
        </p:nvSpPr>
        <p:spPr>
          <a:xfrm>
            <a:off x="502920" y="22860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000" b="1">
                <a:solidFill>
                  <a:srgbClr val="607089"/>
                </a:solidFill>
                <a:latin typeface="Aptos"/>
              </a:rPr>
              <a:t>IMPLEMENTATION</a:t>
            </a:r>
          </a:p>
        </p:txBody>
      </p:sp>
      <p:sp>
        <p:nvSpPr>
          <p:cNvPr id="11" name="slide 5 title"/>
          <p:cNvSpPr txBox="1"/>
          <p:nvPr/>
        </p:nvSpPr>
        <p:spPr>
          <a:xfrm>
            <a:off x="502920" y="475488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500" b="1">
                <a:solidFill>
                  <a:srgbClr val="17202A"/>
                </a:solidFill>
                <a:latin typeface="Aptos"/>
              </a:rPr>
              <a:t>Tech Stack</a:t>
            </a:r>
          </a:p>
        </p:txBody>
      </p:sp>
      <p:sp>
        <p:nvSpPr>
          <p:cNvPr id="12" name="slide 5 number"/>
          <p:cNvSpPr txBox="1"/>
          <p:nvPr/>
        </p:nvSpPr>
        <p:spPr>
          <a:xfrm>
            <a:off x="11201400" y="635508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900" b="1">
                <a:solidFill>
                  <a:srgbClr val="8A95A6"/>
                </a:solidFill>
                <a:latin typeface="Aptos"/>
              </a:rPr>
              <a:t>05</a:t>
            </a:r>
          </a:p>
        </p:txBody>
      </p:sp>
      <p:sp>
        <p:nvSpPr>
          <p:cNvPr id="30" name="Frontend"/>
          <p:cNvSpPr/>
          <p:nvPr/>
        </p:nvSpPr>
        <p:spPr>
          <a:xfrm>
            <a:off x="777240" y="1325880"/>
            <a:ext cx="28803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</p:sp>
      <p:sp>
        <p:nvSpPr>
          <p:cNvPr id="31" name="Frontend accent"/>
          <p:cNvSpPr/>
          <p:nvPr/>
        </p:nvSpPr>
        <p:spPr>
          <a:xfrm>
            <a:off x="777240" y="1325880"/>
            <a:ext cx="146304" cy="1417320"/>
          </a:xfrm>
          <a:prstGeom prst="rect">
            <a:avLst/>
          </a:prstGeom>
          <a:solidFill>
            <a:srgbClr val="20B486"/>
          </a:solidFill>
          <a:ln w="9525">
            <a:solidFill>
              <a:srgbClr val="20B486"/>
            </a:solidFill>
          </a:ln>
        </p:spPr>
      </p:sp>
      <p:sp>
        <p:nvSpPr>
          <p:cNvPr id="32" name="Frontend text"/>
          <p:cNvSpPr txBox="1"/>
          <p:nvPr/>
        </p:nvSpPr>
        <p:spPr>
          <a:xfrm>
            <a:off x="1097280" y="1527048"/>
            <a:ext cx="224028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300" b="1">
                <a:solidFill>
                  <a:srgbClr val="17202A"/>
                </a:solidFill>
                <a:latin typeface="Aptos"/>
              </a:rPr>
              <a:t>Frontend</a:t>
            </a:r>
          </a:p>
          <a:p>
            <a:pPr algn="l"/>
            <a:r>
              <a:rPr lang="en-US" sz="1300" b="1">
                <a:solidFill>
                  <a:srgbClr val="17202A"/>
                </a:solidFill>
                <a:latin typeface="Aptos"/>
              </a:rPr>
              <a:t>Angular 20</a:t>
            </a:r>
          </a:p>
          <a:p>
            <a:pPr algn="l"/>
            <a:r>
              <a:rPr lang="en-US" sz="1300" b="1">
                <a:solidFill>
                  <a:srgbClr val="17202A"/>
                </a:solidFill>
                <a:latin typeface="Aptos"/>
              </a:rPr>
              <a:t>TypeScript</a:t>
            </a:r>
          </a:p>
          <a:p>
            <a:pPr algn="l"/>
            <a:r>
              <a:rPr lang="en-US" sz="1300" b="1">
                <a:solidFill>
                  <a:srgbClr val="17202A"/>
                </a:solidFill>
                <a:latin typeface="Aptos"/>
              </a:rPr>
              <a:t>Router, Forms, HttpClient</a:t>
            </a:r>
          </a:p>
          <a:p>
            <a:pPr algn="l"/>
            <a:r>
              <a:rPr lang="en-US" sz="1300" b="1">
                <a:solidFill>
                  <a:srgbClr val="17202A"/>
                </a:solidFill>
                <a:latin typeface="Aptos"/>
              </a:rPr>
              <a:t>Karma/Jasmine</a:t>
            </a:r>
          </a:p>
        </p:txBody>
      </p:sp>
      <p:sp>
        <p:nvSpPr>
          <p:cNvPr id="33" name="Backend"/>
          <p:cNvSpPr/>
          <p:nvPr/>
        </p:nvSpPr>
        <p:spPr>
          <a:xfrm>
            <a:off x="4297680" y="1325880"/>
            <a:ext cx="28803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</p:sp>
      <p:sp>
        <p:nvSpPr>
          <p:cNvPr id="34" name="Backend accent"/>
          <p:cNvSpPr/>
          <p:nvPr/>
        </p:nvSpPr>
        <p:spPr>
          <a:xfrm>
            <a:off x="4297680" y="1325880"/>
            <a:ext cx="146304" cy="1417320"/>
          </a:xfrm>
          <a:prstGeom prst="rect">
            <a:avLst/>
          </a:prstGeom>
          <a:solidFill>
            <a:srgbClr val="6B7CFF"/>
          </a:solidFill>
          <a:ln w="9525">
            <a:solidFill>
              <a:srgbClr val="6B7CFF"/>
            </a:solidFill>
          </a:ln>
        </p:spPr>
      </p:sp>
      <p:sp>
        <p:nvSpPr>
          <p:cNvPr id="35" name="Backend text"/>
          <p:cNvSpPr txBox="1"/>
          <p:nvPr/>
        </p:nvSpPr>
        <p:spPr>
          <a:xfrm>
            <a:off x="4617720" y="1527048"/>
            <a:ext cx="224028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300" b="1">
                <a:solidFill>
                  <a:srgbClr val="17202A"/>
                </a:solidFill>
                <a:latin typeface="Aptos"/>
              </a:rPr>
              <a:t>Backend</a:t>
            </a:r>
          </a:p>
          <a:p>
            <a:pPr algn="l"/>
            <a:r>
              <a:rPr lang="en-US" sz="1300" b="1">
                <a:solidFill>
                  <a:srgbClr val="17202A"/>
                </a:solidFill>
                <a:latin typeface="Aptos"/>
              </a:rPr>
              <a:t>Java 17</a:t>
            </a:r>
          </a:p>
          <a:p>
            <a:pPr algn="l"/>
            <a:r>
              <a:rPr lang="en-US" sz="1300" b="1">
                <a:solidFill>
                  <a:srgbClr val="17202A"/>
                </a:solidFill>
                <a:latin typeface="Aptos"/>
              </a:rPr>
              <a:t>Spring Boot</a:t>
            </a:r>
          </a:p>
          <a:p>
            <a:pPr algn="l"/>
            <a:r>
              <a:rPr lang="en-US" sz="1300" b="1">
                <a:solidFill>
                  <a:srgbClr val="17202A"/>
                </a:solidFill>
                <a:latin typeface="Aptos"/>
              </a:rPr>
              <a:t>Spring Security + JWT</a:t>
            </a:r>
          </a:p>
          <a:p>
            <a:pPr algn="l"/>
            <a:r>
              <a:rPr lang="en-US" sz="1300" b="1">
                <a:solidFill>
                  <a:srgbClr val="17202A"/>
                </a:solidFill>
                <a:latin typeface="Aptos"/>
              </a:rPr>
              <a:t>Spring Data JPA</a:t>
            </a:r>
          </a:p>
        </p:txBody>
      </p:sp>
      <p:sp>
        <p:nvSpPr>
          <p:cNvPr id="36" name="Cloud Patterns"/>
          <p:cNvSpPr/>
          <p:nvPr/>
        </p:nvSpPr>
        <p:spPr>
          <a:xfrm>
            <a:off x="7818120" y="1325880"/>
            <a:ext cx="28803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</p:sp>
      <p:sp>
        <p:nvSpPr>
          <p:cNvPr id="37" name="Cloud Patterns accent"/>
          <p:cNvSpPr/>
          <p:nvPr/>
        </p:nvSpPr>
        <p:spPr>
          <a:xfrm>
            <a:off x="7818120" y="1325880"/>
            <a:ext cx="146304" cy="1417320"/>
          </a:xfrm>
          <a:prstGeom prst="rect">
            <a:avLst/>
          </a:prstGeom>
          <a:solidFill>
            <a:srgbClr val="F5A524"/>
          </a:solidFill>
          <a:ln w="9525">
            <a:solidFill>
              <a:srgbClr val="F5A524"/>
            </a:solidFill>
          </a:ln>
        </p:spPr>
      </p:sp>
      <p:sp>
        <p:nvSpPr>
          <p:cNvPr id="38" name="Cloud Patterns text"/>
          <p:cNvSpPr txBox="1"/>
          <p:nvPr/>
        </p:nvSpPr>
        <p:spPr>
          <a:xfrm>
            <a:off x="8138160" y="1527048"/>
            <a:ext cx="224028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300" b="1">
                <a:solidFill>
                  <a:srgbClr val="17202A"/>
                </a:solidFill>
                <a:latin typeface="Aptos"/>
              </a:rPr>
              <a:t>Cloud Patterns</a:t>
            </a:r>
          </a:p>
          <a:p>
            <a:pPr algn="l"/>
            <a:r>
              <a:rPr lang="en-US" sz="1300" b="1">
                <a:solidFill>
                  <a:srgbClr val="17202A"/>
                </a:solidFill>
                <a:latin typeface="Aptos"/>
              </a:rPr>
              <a:t>Spring Cloud Gateway</a:t>
            </a:r>
          </a:p>
          <a:p>
            <a:pPr algn="l"/>
            <a:r>
              <a:rPr lang="en-US" sz="1300" b="1">
                <a:solidFill>
                  <a:srgbClr val="17202A"/>
                </a:solidFill>
                <a:latin typeface="Aptos"/>
              </a:rPr>
              <a:t>Config Server</a:t>
            </a:r>
          </a:p>
          <a:p>
            <a:pPr algn="l"/>
            <a:r>
              <a:rPr lang="en-US" sz="1300" b="1">
                <a:solidFill>
                  <a:srgbClr val="17202A"/>
                </a:solidFill>
                <a:latin typeface="Aptos"/>
              </a:rPr>
              <a:t>Eureka Discovery</a:t>
            </a:r>
          </a:p>
          <a:p>
            <a:pPr algn="l"/>
            <a:r>
              <a:rPr lang="en-US" sz="1300" b="1">
                <a:solidFill>
                  <a:srgbClr val="17202A"/>
                </a:solidFill>
                <a:latin typeface="Aptos"/>
              </a:rPr>
              <a:t>OpenFeign</a:t>
            </a:r>
          </a:p>
        </p:txBody>
      </p:sp>
      <p:sp>
        <p:nvSpPr>
          <p:cNvPr id="39" name="Data &amp; Events"/>
          <p:cNvSpPr/>
          <p:nvPr/>
        </p:nvSpPr>
        <p:spPr>
          <a:xfrm>
            <a:off x="777240" y="3474720"/>
            <a:ext cx="28803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</p:sp>
      <p:sp>
        <p:nvSpPr>
          <p:cNvPr id="40" name="Data &amp; Events accent"/>
          <p:cNvSpPr/>
          <p:nvPr/>
        </p:nvSpPr>
        <p:spPr>
          <a:xfrm>
            <a:off x="777240" y="3474720"/>
            <a:ext cx="146304" cy="1417320"/>
          </a:xfrm>
          <a:prstGeom prst="rect">
            <a:avLst/>
          </a:prstGeom>
          <a:solidFill>
            <a:srgbClr val="D84B87"/>
          </a:solidFill>
          <a:ln w="9525">
            <a:solidFill>
              <a:srgbClr val="D84B87"/>
            </a:solidFill>
          </a:ln>
        </p:spPr>
      </p:sp>
      <p:sp>
        <p:nvSpPr>
          <p:cNvPr id="41" name="Data &amp; Events text"/>
          <p:cNvSpPr txBox="1"/>
          <p:nvPr/>
        </p:nvSpPr>
        <p:spPr>
          <a:xfrm>
            <a:off x="1097280" y="3675887"/>
            <a:ext cx="224028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300" b="1">
                <a:solidFill>
                  <a:srgbClr val="17202A"/>
                </a:solidFill>
                <a:latin typeface="Aptos"/>
              </a:rPr>
              <a:t>Data &amp; Events</a:t>
            </a:r>
          </a:p>
          <a:p>
            <a:pPr algn="l"/>
            <a:r>
              <a:rPr lang="en-US" sz="1300" b="1">
                <a:solidFill>
                  <a:srgbClr val="17202A"/>
                </a:solidFill>
                <a:latin typeface="Aptos"/>
              </a:rPr>
              <a:t>PostgreSQL</a:t>
            </a:r>
          </a:p>
          <a:p>
            <a:pPr algn="l"/>
            <a:r>
              <a:rPr lang="en-US" sz="1300" b="1">
                <a:solidFill>
                  <a:srgbClr val="17202A"/>
                </a:solidFill>
                <a:latin typeface="Aptos"/>
              </a:rPr>
              <a:t>Redis cache</a:t>
            </a:r>
          </a:p>
          <a:p>
            <a:pPr algn="l"/>
            <a:r>
              <a:rPr lang="en-US" sz="1300" b="1">
                <a:solidFill>
                  <a:srgbClr val="17202A"/>
                </a:solidFill>
                <a:latin typeface="Aptos"/>
              </a:rPr>
              <a:t>RabbitMQ</a:t>
            </a:r>
          </a:p>
          <a:p>
            <a:pPr algn="l"/>
            <a:r>
              <a:rPr lang="en-US" sz="1300" b="1">
                <a:solidFill>
                  <a:srgbClr val="17202A"/>
                </a:solidFill>
                <a:latin typeface="Aptos"/>
              </a:rPr>
              <a:t>Spring Mail</a:t>
            </a:r>
          </a:p>
        </p:txBody>
      </p:sp>
      <p:sp>
        <p:nvSpPr>
          <p:cNvPr id="42" name="DevOps &amp; Quality"/>
          <p:cNvSpPr/>
          <p:nvPr/>
        </p:nvSpPr>
        <p:spPr>
          <a:xfrm>
            <a:off x="4297680" y="3474720"/>
            <a:ext cx="28803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</p:sp>
      <p:sp>
        <p:nvSpPr>
          <p:cNvPr id="43" name="DevOps &amp; Quality accent"/>
          <p:cNvSpPr/>
          <p:nvPr/>
        </p:nvSpPr>
        <p:spPr>
          <a:xfrm>
            <a:off x="4297680" y="3474720"/>
            <a:ext cx="146304" cy="1417320"/>
          </a:xfrm>
          <a:prstGeom prst="rect">
            <a:avLst/>
          </a:prstGeom>
          <a:solidFill>
            <a:srgbClr val="3498DB"/>
          </a:solidFill>
          <a:ln w="9525">
            <a:solidFill>
              <a:srgbClr val="3498DB"/>
            </a:solidFill>
          </a:ln>
        </p:spPr>
      </p:sp>
      <p:sp>
        <p:nvSpPr>
          <p:cNvPr id="44" name="DevOps &amp; Quality text"/>
          <p:cNvSpPr txBox="1"/>
          <p:nvPr/>
        </p:nvSpPr>
        <p:spPr>
          <a:xfrm>
            <a:off x="4617720" y="3675887"/>
            <a:ext cx="224028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300" b="1">
                <a:solidFill>
                  <a:srgbClr val="17202A"/>
                </a:solidFill>
                <a:latin typeface="Aptos"/>
              </a:rPr>
              <a:t>DevOps &amp; Quality</a:t>
            </a:r>
          </a:p>
          <a:p>
            <a:pPr algn="l"/>
            <a:r>
              <a:rPr lang="en-US" sz="1300" b="1">
                <a:solidFill>
                  <a:srgbClr val="17202A"/>
                </a:solidFill>
                <a:latin typeface="Aptos"/>
              </a:rPr>
              <a:t>Docker Compose</a:t>
            </a:r>
          </a:p>
          <a:p>
            <a:pPr algn="l"/>
            <a:r>
              <a:rPr lang="en-US" sz="1300" b="1">
                <a:solidFill>
                  <a:srgbClr val="17202A"/>
                </a:solidFill>
                <a:latin typeface="Aptos"/>
              </a:rPr>
              <a:t>GitHub Actions</a:t>
            </a:r>
          </a:p>
          <a:p>
            <a:pPr algn="l"/>
            <a:r>
              <a:rPr lang="en-US" sz="1300" b="1">
                <a:solidFill>
                  <a:srgbClr val="17202A"/>
                </a:solidFill>
                <a:latin typeface="Aptos"/>
              </a:rPr>
              <a:t>JaCoCo coverage</a:t>
            </a:r>
          </a:p>
          <a:p>
            <a:pPr algn="l"/>
            <a:r>
              <a:rPr lang="en-US" sz="1300" b="1">
                <a:solidFill>
                  <a:srgbClr val="17202A"/>
                </a:solidFill>
                <a:latin typeface="Aptos"/>
              </a:rPr>
              <a:t>SonarQube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6 kicker"/>
          <p:cNvSpPr txBox="1"/>
          <p:nvPr/>
        </p:nvSpPr>
        <p:spPr>
          <a:xfrm>
            <a:off x="502920" y="22860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000" b="1">
                <a:solidFill>
                  <a:srgbClr val="607089"/>
                </a:solidFill>
                <a:latin typeface="Aptos"/>
              </a:rPr>
              <a:t>GATEWAY SURFACE</a:t>
            </a:r>
          </a:p>
        </p:txBody>
      </p:sp>
      <p:sp>
        <p:nvSpPr>
          <p:cNvPr id="11" name="slide 6 title"/>
          <p:cNvSpPr txBox="1"/>
          <p:nvPr/>
        </p:nvSpPr>
        <p:spPr>
          <a:xfrm>
            <a:off x="502920" y="475488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500" b="1">
                <a:solidFill>
                  <a:srgbClr val="17202A"/>
                </a:solidFill>
                <a:latin typeface="Aptos"/>
              </a:rPr>
              <a:t>API Endpoints</a:t>
            </a:r>
          </a:p>
        </p:txBody>
      </p:sp>
      <p:sp>
        <p:nvSpPr>
          <p:cNvPr id="12" name="slide 6 number"/>
          <p:cNvSpPr txBox="1"/>
          <p:nvPr/>
        </p:nvSpPr>
        <p:spPr>
          <a:xfrm>
            <a:off x="11201400" y="635508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900" b="1">
                <a:solidFill>
                  <a:srgbClr val="8A95A6"/>
                </a:solidFill>
                <a:latin typeface="Aptos"/>
              </a:rPr>
              <a:t>06</a:t>
            </a:r>
          </a:p>
        </p:txBody>
      </p:sp>
      <p:sp>
        <p:nvSpPr>
          <p:cNvPr id="20" name="api intro"/>
          <p:cNvSpPr txBox="1"/>
          <p:nvPr/>
        </p:nvSpPr>
        <p:spPr>
          <a:xfrm>
            <a:off x="685800" y="1143000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600">
                <a:solidFill>
                  <a:srgbClr val="3B4656"/>
                </a:solidFill>
                <a:latin typeface="Aptos"/>
              </a:rPr>
              <a:t>Frontend calls the API Gateway at localhost:8080; the gateway routes to the owning service.</a:t>
            </a:r>
          </a:p>
        </p:txBody>
      </p:sp>
      <p:sp>
        <p:nvSpPr>
          <p:cNvPr id="21" name="api table"/>
          <p:cNvSpPr/>
          <p:nvPr/>
        </p:nvSpPr>
        <p:spPr>
          <a:xfrm>
            <a:off x="685800" y="1737360"/>
            <a:ext cx="10652760" cy="4069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</p:sp>
      <p:sp>
        <p:nvSpPr>
          <p:cNvPr id="22" name="api list"/>
          <p:cNvSpPr txBox="1"/>
          <p:nvPr/>
        </p:nvSpPr>
        <p:spPr>
          <a:xfrm>
            <a:off x="914400" y="1993392"/>
            <a:ext cx="10104120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100">
                <a:solidFill>
                  <a:srgbClr val="17202A"/>
                </a:solidFill>
                <a:latin typeface="Aptos"/>
              </a:rPr>
              <a:t>Auth: POST /auth/register, /verify-otp, /login, /forgot-password, /reset-password; GET /auth/user-roles</a:t>
            </a:r>
          </a:p>
          <a:p>
            <a:pPr algn="l"/>
            <a:r>
              <a:rPr lang="en-US" sz="1100">
                <a:solidFill>
                  <a:srgbClr val="17202A"/>
                </a:solidFill>
                <a:latin typeface="Aptos"/>
              </a:rPr>
              <a:t>Users: POST /users, GET /users, /users/directory, /users/{id}, /users/internal/{id}; PUT /users/{id}</a:t>
            </a:r>
          </a:p>
          <a:p>
            <a:pPr algn="l"/>
            <a:r>
              <a:rPr lang="en-US" sz="1100">
                <a:solidFill>
                  <a:srgbClr val="17202A"/>
                </a:solidFill>
                <a:latin typeface="Aptos"/>
              </a:rPr>
              <a:t>Startups: POST /startups, GET /startups, /startups/{id}; PUT /startups/{id}; DELETE /startups/{id}</a:t>
            </a:r>
          </a:p>
          <a:p>
            <a:pPr algn="l"/>
            <a:r>
              <a:rPr lang="en-US" sz="1100">
                <a:solidFill>
                  <a:srgbClr val="17202A"/>
                </a:solidFill>
                <a:latin typeface="Aptos"/>
              </a:rPr>
              <a:t>Investments: POST /investments, GET /investments, /startup/{id}, /investor/{id}; PUT /{id}/status</a:t>
            </a:r>
          </a:p>
          <a:p>
            <a:pPr algn="l"/>
            <a:r>
              <a:rPr lang="en-US" sz="1100">
                <a:solidFill>
                  <a:srgbClr val="17202A"/>
                </a:solidFill>
                <a:latin typeface="Aptos"/>
              </a:rPr>
              <a:t>Teams: POST /teams/invite, /teams/join; GET /teams/startup/{id}, /teams/my</a:t>
            </a:r>
          </a:p>
          <a:p>
            <a:pPr algn="l"/>
            <a:r>
              <a:rPr lang="en-US" sz="1100">
                <a:solidFill>
                  <a:srgbClr val="17202A"/>
                </a:solidFill>
                <a:latin typeface="Aptos"/>
              </a:rPr>
              <a:t>Messages: POST /messages/conversation, /messages; GET /messages/conversation/{id}, /messages/user/{id}/conversations</a:t>
            </a:r>
          </a:p>
          <a:p>
            <a:pPr algn="l"/>
            <a:r>
              <a:rPr lang="en-US" sz="1100">
                <a:solidFill>
                  <a:srgbClr val="17202A"/>
                </a:solidFill>
                <a:latin typeface="Aptos"/>
              </a:rPr>
              <a:t>Notifications: GET /notifications/status or /api/notifications/status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7 kicker"/>
          <p:cNvSpPr txBox="1"/>
          <p:nvPr/>
        </p:nvSpPr>
        <p:spPr>
          <a:xfrm>
            <a:off x="502920" y="22860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000" b="1">
                <a:solidFill>
                  <a:srgbClr val="607089"/>
                </a:solidFill>
                <a:latin typeface="Aptos"/>
              </a:rPr>
              <a:t>SERVICE OWNERSHIP</a:t>
            </a:r>
          </a:p>
        </p:txBody>
      </p:sp>
      <p:sp>
        <p:nvSpPr>
          <p:cNvPr id="11" name="slide 7 title"/>
          <p:cNvSpPr txBox="1"/>
          <p:nvPr/>
        </p:nvSpPr>
        <p:spPr>
          <a:xfrm>
            <a:off x="502920" y="475488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500" b="1">
                <a:solidFill>
                  <a:srgbClr val="17202A"/>
                </a:solidFill>
                <a:latin typeface="Aptos"/>
              </a:rPr>
              <a:t>Brief Description of Each Microservice</a:t>
            </a:r>
          </a:p>
        </p:txBody>
      </p:sp>
      <p:sp>
        <p:nvSpPr>
          <p:cNvPr id="12" name="slide 7 number"/>
          <p:cNvSpPr txBox="1"/>
          <p:nvPr/>
        </p:nvSpPr>
        <p:spPr>
          <a:xfrm>
            <a:off x="11201400" y="635508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900" b="1">
                <a:solidFill>
                  <a:srgbClr val="8A95A6"/>
                </a:solidFill>
                <a:latin typeface="Aptos"/>
              </a:rPr>
              <a:t>07</a:t>
            </a:r>
          </a:p>
        </p:txBody>
      </p:sp>
      <p:sp>
        <p:nvSpPr>
          <p:cNvPr id="30" name="Gateway"/>
          <p:cNvSpPr txBox="1"/>
          <p:nvPr/>
        </p:nvSpPr>
        <p:spPr>
          <a:xfrm>
            <a:off x="685800" y="114300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300" b="1">
                <a:solidFill>
                  <a:srgbClr val="0B5D46"/>
                </a:solidFill>
                <a:latin typeface="Aptos"/>
              </a:rPr>
              <a:t>Gateway</a:t>
            </a:r>
          </a:p>
        </p:txBody>
      </p:sp>
      <p:sp>
        <p:nvSpPr>
          <p:cNvPr id="31" name="Single backend entry point and Swagger aggregation."/>
          <p:cNvSpPr txBox="1"/>
          <p:nvPr/>
        </p:nvSpPr>
        <p:spPr>
          <a:xfrm>
            <a:off x="2011680" y="1143000"/>
            <a:ext cx="3749039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27313F"/>
                </a:solidFill>
                <a:latin typeface="Aptos"/>
              </a:rPr>
              <a:t>Single backend entry point and Swagger aggregation.</a:t>
            </a:r>
          </a:p>
        </p:txBody>
      </p:sp>
      <p:sp>
        <p:nvSpPr>
          <p:cNvPr id="32" name="Auth"/>
          <p:cNvSpPr txBox="1"/>
          <p:nvPr/>
        </p:nvSpPr>
        <p:spPr>
          <a:xfrm>
            <a:off x="6080760" y="114300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300" b="1">
                <a:solidFill>
                  <a:srgbClr val="0B5D46"/>
                </a:solidFill>
                <a:latin typeface="Aptos"/>
              </a:rPr>
              <a:t>Auth</a:t>
            </a:r>
          </a:p>
        </p:txBody>
      </p:sp>
      <p:sp>
        <p:nvSpPr>
          <p:cNvPr id="33" name="Registration, OTP, login, JWT, password reset, roles."/>
          <p:cNvSpPr txBox="1"/>
          <p:nvPr/>
        </p:nvSpPr>
        <p:spPr>
          <a:xfrm>
            <a:off x="7406640" y="1143000"/>
            <a:ext cx="3749039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27313F"/>
                </a:solidFill>
                <a:latin typeface="Aptos"/>
              </a:rPr>
              <a:t>Registration, OTP, login, JWT, password reset, roles.</a:t>
            </a:r>
          </a:p>
        </p:txBody>
      </p:sp>
      <p:sp>
        <p:nvSpPr>
          <p:cNvPr id="34" name="Users"/>
          <p:cNvSpPr txBox="1"/>
          <p:nvPr/>
        </p:nvSpPr>
        <p:spPr>
          <a:xfrm>
            <a:off x="685800" y="23134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300" b="1">
                <a:solidFill>
                  <a:srgbClr val="0B5D46"/>
                </a:solidFill>
                <a:latin typeface="Aptos"/>
              </a:rPr>
              <a:t>Users</a:t>
            </a:r>
          </a:p>
        </p:txBody>
      </p:sp>
      <p:sp>
        <p:nvSpPr>
          <p:cNvPr id="35" name="Profiles, directory, internal summaries, Redis cache."/>
          <p:cNvSpPr txBox="1"/>
          <p:nvPr/>
        </p:nvSpPr>
        <p:spPr>
          <a:xfrm>
            <a:off x="2011680" y="2313432"/>
            <a:ext cx="3749039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27313F"/>
                </a:solidFill>
                <a:latin typeface="Aptos"/>
              </a:rPr>
              <a:t>Profiles, directory, internal summaries, Redis cache.</a:t>
            </a:r>
          </a:p>
        </p:txBody>
      </p:sp>
      <p:sp>
        <p:nvSpPr>
          <p:cNvPr id="36" name="Startups"/>
          <p:cNvSpPr txBox="1"/>
          <p:nvPr/>
        </p:nvSpPr>
        <p:spPr>
          <a:xfrm>
            <a:off x="6080760" y="23134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300" b="1">
                <a:solidFill>
                  <a:srgbClr val="0B5D46"/>
                </a:solidFill>
                <a:latin typeface="Aptos"/>
              </a:rPr>
              <a:t>Startups</a:t>
            </a:r>
          </a:p>
        </p:txBody>
      </p:sp>
      <p:sp>
        <p:nvSpPr>
          <p:cNvPr id="37" name="Founder listings, discovery, admin review workflow."/>
          <p:cNvSpPr txBox="1"/>
          <p:nvPr/>
        </p:nvSpPr>
        <p:spPr>
          <a:xfrm>
            <a:off x="7406640" y="2313432"/>
            <a:ext cx="3749039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27313F"/>
                </a:solidFill>
                <a:latin typeface="Aptos"/>
              </a:rPr>
              <a:t>Founder listings, discovery, admin review workflow.</a:t>
            </a:r>
          </a:p>
        </p:txBody>
      </p:sp>
      <p:sp>
        <p:nvSpPr>
          <p:cNvPr id="38" name="Investments"/>
          <p:cNvSpPr txBox="1"/>
          <p:nvPr/>
        </p:nvSpPr>
        <p:spPr>
          <a:xfrm>
            <a:off x="685800" y="3483864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300" b="1">
                <a:solidFill>
                  <a:srgbClr val="0B5D46"/>
                </a:solidFill>
                <a:latin typeface="Aptos"/>
              </a:rPr>
              <a:t>Investments</a:t>
            </a:r>
          </a:p>
        </p:txBody>
      </p:sp>
      <p:sp>
        <p:nvSpPr>
          <p:cNvPr id="39" name="Investor requests and status lifecycle."/>
          <p:cNvSpPr txBox="1"/>
          <p:nvPr/>
        </p:nvSpPr>
        <p:spPr>
          <a:xfrm>
            <a:off x="2011680" y="3483864"/>
            <a:ext cx="3749039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27313F"/>
                </a:solidFill>
                <a:latin typeface="Aptos"/>
              </a:rPr>
              <a:t>Investor requests and status lifecycle.</a:t>
            </a:r>
          </a:p>
        </p:txBody>
      </p:sp>
      <p:sp>
        <p:nvSpPr>
          <p:cNvPr id="40" name="Teams"/>
          <p:cNvSpPr txBox="1"/>
          <p:nvPr/>
        </p:nvSpPr>
        <p:spPr>
          <a:xfrm>
            <a:off x="6080760" y="3483864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300" b="1">
                <a:solidFill>
                  <a:srgbClr val="0B5D46"/>
                </a:solidFill>
                <a:latin typeface="Aptos"/>
              </a:rPr>
              <a:t>Teams</a:t>
            </a:r>
          </a:p>
        </p:txBody>
      </p:sp>
      <p:sp>
        <p:nvSpPr>
          <p:cNvPr id="41" name="Invites, joins, and startup team membership."/>
          <p:cNvSpPr txBox="1"/>
          <p:nvPr/>
        </p:nvSpPr>
        <p:spPr>
          <a:xfrm>
            <a:off x="7406640" y="3483864"/>
            <a:ext cx="3749039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27313F"/>
                </a:solidFill>
                <a:latin typeface="Aptos"/>
              </a:rPr>
              <a:t>Invites, joins, and startup team membership.</a:t>
            </a:r>
          </a:p>
        </p:txBody>
      </p:sp>
      <p:sp>
        <p:nvSpPr>
          <p:cNvPr id="42" name="Messaging"/>
          <p:cNvSpPr txBox="1"/>
          <p:nvPr/>
        </p:nvSpPr>
        <p:spPr>
          <a:xfrm>
            <a:off x="685800" y="4654296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300" b="1">
                <a:solidFill>
                  <a:srgbClr val="0B5D46"/>
                </a:solidFill>
                <a:latin typeface="Aptos"/>
              </a:rPr>
              <a:t>Messaging</a:t>
            </a:r>
          </a:p>
        </p:txBody>
      </p:sp>
      <p:sp>
        <p:nvSpPr>
          <p:cNvPr id="43" name="Conversations and stored user messages."/>
          <p:cNvSpPr txBox="1"/>
          <p:nvPr/>
        </p:nvSpPr>
        <p:spPr>
          <a:xfrm>
            <a:off x="2011680" y="4654296"/>
            <a:ext cx="3749039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27313F"/>
                </a:solidFill>
                <a:latin typeface="Aptos"/>
              </a:rPr>
              <a:t>Conversations and stored user messages.</a:t>
            </a:r>
          </a:p>
        </p:txBody>
      </p:sp>
      <p:sp>
        <p:nvSpPr>
          <p:cNvPr id="44" name="Notifications"/>
          <p:cNvSpPr txBox="1"/>
          <p:nvPr/>
        </p:nvSpPr>
        <p:spPr>
          <a:xfrm>
            <a:off x="6080760" y="4654296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300" b="1">
                <a:solidFill>
                  <a:srgbClr val="0B5D46"/>
                </a:solidFill>
                <a:latin typeface="Aptos"/>
              </a:rPr>
              <a:t>Notifications</a:t>
            </a:r>
          </a:p>
        </p:txBody>
      </p:sp>
      <p:sp>
        <p:nvSpPr>
          <p:cNvPr id="45" name="RabbitMQ consumer and email delivery."/>
          <p:cNvSpPr txBox="1"/>
          <p:nvPr/>
        </p:nvSpPr>
        <p:spPr>
          <a:xfrm>
            <a:off x="7406640" y="4654296"/>
            <a:ext cx="3749039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27313F"/>
                </a:solidFill>
                <a:latin typeface="Aptos"/>
              </a:rPr>
              <a:t>RabbitMQ consumer and email delivery.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8 kicker"/>
          <p:cNvSpPr txBox="1"/>
          <p:nvPr/>
        </p:nvSpPr>
        <p:spPr>
          <a:xfrm>
            <a:off x="502920" y="22860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000" b="1">
                <a:solidFill>
                  <a:srgbClr val="607089"/>
                </a:solidFill>
                <a:latin typeface="Aptos"/>
              </a:rPr>
              <a:t>ANGULAR FRONTEND</a:t>
            </a:r>
          </a:p>
        </p:txBody>
      </p:sp>
      <p:sp>
        <p:nvSpPr>
          <p:cNvPr id="11" name="slide 8 title"/>
          <p:cNvSpPr txBox="1"/>
          <p:nvPr/>
        </p:nvSpPr>
        <p:spPr>
          <a:xfrm>
            <a:off x="502920" y="475488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500" b="1">
                <a:solidFill>
                  <a:srgbClr val="17202A"/>
                </a:solidFill>
                <a:latin typeface="Aptos"/>
              </a:rPr>
              <a:t>UI Components</a:t>
            </a:r>
          </a:p>
        </p:txBody>
      </p:sp>
      <p:sp>
        <p:nvSpPr>
          <p:cNvPr id="12" name="slide 8 number"/>
          <p:cNvSpPr txBox="1"/>
          <p:nvPr/>
        </p:nvSpPr>
        <p:spPr>
          <a:xfrm>
            <a:off x="11201400" y="635508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900" b="1">
                <a:solidFill>
                  <a:srgbClr val="8A95A6"/>
                </a:solidFill>
                <a:latin typeface="Aptos"/>
              </a:rPr>
              <a:t>08</a:t>
            </a:r>
          </a:p>
        </p:txBody>
      </p:sp>
      <p:sp>
        <p:nvSpPr>
          <p:cNvPr id="20" name="auth surface"/>
          <p:cNvSpPr/>
          <p:nvPr/>
        </p:nvSpPr>
        <p:spPr>
          <a:xfrm>
            <a:off x="822960" y="1143000"/>
            <a:ext cx="292608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</p:sp>
      <p:sp>
        <p:nvSpPr>
          <p:cNvPr id="21" name="auth title"/>
          <p:cNvSpPr txBox="1"/>
          <p:nvPr/>
        </p:nvSpPr>
        <p:spPr>
          <a:xfrm>
            <a:off x="1097280" y="141732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800" b="1">
                <a:solidFill>
                  <a:srgbClr val="17202A"/>
                </a:solidFill>
                <a:latin typeface="Aptos"/>
              </a:rPr>
              <a:t>Auth Page</a:t>
            </a:r>
          </a:p>
        </p:txBody>
      </p:sp>
      <p:sp>
        <p:nvSpPr>
          <p:cNvPr id="22" name="auth items"/>
          <p:cNvSpPr txBox="1"/>
          <p:nvPr/>
        </p:nvSpPr>
        <p:spPr>
          <a:xfrm>
            <a:off x="1097280" y="2011680"/>
            <a:ext cx="2194560" cy="2377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500">
                <a:solidFill>
                  <a:srgbClr val="3B4656"/>
                </a:solidFill>
                <a:latin typeface="Aptos"/>
              </a:rPr>
              <a:t>Role selection</a:t>
            </a:r>
          </a:p>
          <a:p>
            <a:pPr algn="l"/>
            <a:r>
              <a:rPr lang="en-US" sz="1500">
                <a:solidFill>
                  <a:srgbClr val="3B4656"/>
                </a:solidFill>
                <a:latin typeface="Aptos"/>
              </a:rPr>
              <a:t>Registration steps</a:t>
            </a:r>
          </a:p>
          <a:p>
            <a:pPr algn="l"/>
            <a:r>
              <a:rPr lang="en-US" sz="1500">
                <a:solidFill>
                  <a:srgbClr val="3B4656"/>
                </a:solidFill>
                <a:latin typeface="Aptos"/>
              </a:rPr>
              <a:t>OTP verification</a:t>
            </a:r>
          </a:p>
          <a:p>
            <a:pPr algn="l"/>
            <a:r>
              <a:rPr lang="en-US" sz="1500">
                <a:solidFill>
                  <a:srgbClr val="3B4656"/>
                </a:solidFill>
                <a:latin typeface="Aptos"/>
              </a:rPr>
              <a:t>Login</a:t>
            </a:r>
          </a:p>
          <a:p>
            <a:pPr algn="l"/>
            <a:r>
              <a:rPr lang="en-US" sz="1500">
                <a:solidFill>
                  <a:srgbClr val="3B4656"/>
                </a:solidFill>
                <a:latin typeface="Aptos"/>
              </a:rPr>
              <a:t>Password reset</a:t>
            </a:r>
          </a:p>
        </p:txBody>
      </p:sp>
      <p:sp>
        <p:nvSpPr>
          <p:cNvPr id="23" name="dash surface"/>
          <p:cNvSpPr/>
          <p:nvPr/>
        </p:nvSpPr>
        <p:spPr>
          <a:xfrm>
            <a:off x="4572000" y="1143000"/>
            <a:ext cx="292608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</p:sp>
      <p:sp>
        <p:nvSpPr>
          <p:cNvPr id="24" name="dash title"/>
          <p:cNvSpPr txBox="1"/>
          <p:nvPr/>
        </p:nvSpPr>
        <p:spPr>
          <a:xfrm>
            <a:off x="4846320" y="141732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800" b="1">
                <a:solidFill>
                  <a:srgbClr val="17202A"/>
                </a:solidFill>
                <a:latin typeface="Aptos"/>
              </a:rPr>
              <a:t>Dashboard</a:t>
            </a:r>
          </a:p>
        </p:txBody>
      </p:sp>
      <p:sp>
        <p:nvSpPr>
          <p:cNvPr id="25" name="dash items"/>
          <p:cNvSpPr txBox="1"/>
          <p:nvPr/>
        </p:nvSpPr>
        <p:spPr>
          <a:xfrm>
            <a:off x="4846320" y="2011680"/>
            <a:ext cx="2194560" cy="2377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500">
                <a:solidFill>
                  <a:srgbClr val="3B4656"/>
                </a:solidFill>
                <a:latin typeface="Aptos"/>
              </a:rPr>
              <a:t>Role-based service cards</a:t>
            </a:r>
          </a:p>
          <a:p>
            <a:pPr algn="l"/>
            <a:r>
              <a:rPr lang="en-US" sz="1500">
                <a:solidFill>
                  <a:srgbClr val="3B4656"/>
                </a:solidFill>
                <a:latin typeface="Aptos"/>
              </a:rPr>
              <a:t>Quick navigation</a:t>
            </a:r>
          </a:p>
          <a:p>
            <a:pPr algn="l"/>
            <a:r>
              <a:rPr lang="en-US" sz="1500">
                <a:solidFill>
                  <a:srgbClr val="3B4656"/>
                </a:solidFill>
                <a:latin typeface="Aptos"/>
              </a:rPr>
              <a:t>Session state</a:t>
            </a:r>
          </a:p>
          <a:p>
            <a:pPr algn="l"/>
            <a:r>
              <a:rPr lang="en-US" sz="1500">
                <a:solidFill>
                  <a:srgbClr val="3B4656"/>
                </a:solidFill>
                <a:latin typeface="Aptos"/>
              </a:rPr>
              <a:t>Logout</a:t>
            </a:r>
          </a:p>
        </p:txBody>
      </p:sp>
      <p:sp>
        <p:nvSpPr>
          <p:cNvPr id="26" name="service surface"/>
          <p:cNvSpPr/>
          <p:nvPr/>
        </p:nvSpPr>
        <p:spPr>
          <a:xfrm>
            <a:off x="8321040" y="1143000"/>
            <a:ext cx="292608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</p:sp>
      <p:sp>
        <p:nvSpPr>
          <p:cNvPr id="27" name="service title"/>
          <p:cNvSpPr txBox="1"/>
          <p:nvPr/>
        </p:nvSpPr>
        <p:spPr>
          <a:xfrm>
            <a:off x="8595360" y="141732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800" b="1">
                <a:solidFill>
                  <a:srgbClr val="17202A"/>
                </a:solidFill>
                <a:latin typeface="Aptos"/>
              </a:rPr>
              <a:t>Service Page</a:t>
            </a:r>
          </a:p>
        </p:txBody>
      </p:sp>
      <p:sp>
        <p:nvSpPr>
          <p:cNvPr id="28" name="service items"/>
          <p:cNvSpPr txBox="1"/>
          <p:nvPr/>
        </p:nvSpPr>
        <p:spPr>
          <a:xfrm>
            <a:off x="8595360" y="2011680"/>
            <a:ext cx="2194560" cy="2377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500">
                <a:solidFill>
                  <a:srgbClr val="3B4656"/>
                </a:solidFill>
                <a:latin typeface="Aptos"/>
              </a:rPr>
              <a:t>Profiles</a:t>
            </a:r>
          </a:p>
          <a:p>
            <a:pPr algn="l"/>
            <a:r>
              <a:rPr lang="en-US" sz="1500">
                <a:solidFill>
                  <a:srgbClr val="3B4656"/>
                </a:solidFill>
                <a:latin typeface="Aptos"/>
              </a:rPr>
              <a:t>Startups &amp; discovery</a:t>
            </a:r>
          </a:p>
          <a:p>
            <a:pPr algn="l"/>
            <a:r>
              <a:rPr lang="en-US" sz="1500">
                <a:solidFill>
                  <a:srgbClr val="3B4656"/>
                </a:solidFill>
                <a:latin typeface="Aptos"/>
              </a:rPr>
              <a:t>Investments</a:t>
            </a:r>
          </a:p>
          <a:p>
            <a:pPr algn="l"/>
            <a:r>
              <a:rPr lang="en-US" sz="1500">
                <a:solidFill>
                  <a:srgbClr val="3B4656"/>
                </a:solidFill>
                <a:latin typeface="Aptos"/>
              </a:rPr>
              <a:t>Teams</a:t>
            </a:r>
          </a:p>
          <a:p>
            <a:pPr algn="l"/>
            <a:r>
              <a:rPr lang="en-US" sz="1500">
                <a:solidFill>
                  <a:srgbClr val="3B4656"/>
                </a:solidFill>
                <a:latin typeface="Aptos"/>
              </a:rPr>
              <a:t>Messages</a:t>
            </a:r>
          </a:p>
          <a:p>
            <a:pPr algn="l"/>
            <a:r>
              <a:rPr lang="en-US" sz="1500">
                <a:solidFill>
                  <a:srgbClr val="3B4656"/>
                </a:solidFill>
                <a:latin typeface="Aptos"/>
              </a:rPr>
              <a:t>Notifications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9 kicker"/>
          <p:cNvSpPr txBox="1"/>
          <p:nvPr/>
        </p:nvSpPr>
        <p:spPr>
          <a:xfrm>
            <a:off x="502920" y="22860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000" b="1">
                <a:solidFill>
                  <a:srgbClr val="607089"/>
                </a:solidFill>
                <a:latin typeface="Aptos"/>
              </a:rPr>
              <a:t>ANGULAR ROUTES</a:t>
            </a:r>
          </a:p>
        </p:txBody>
      </p:sp>
      <p:sp>
        <p:nvSpPr>
          <p:cNvPr id="11" name="slide 9 title"/>
          <p:cNvSpPr txBox="1"/>
          <p:nvPr/>
        </p:nvSpPr>
        <p:spPr>
          <a:xfrm>
            <a:off x="502920" y="475488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500" b="1">
                <a:solidFill>
                  <a:srgbClr val="17202A"/>
                </a:solidFill>
                <a:latin typeface="Aptos"/>
              </a:rPr>
              <a:t>UI Routing Endpoints</a:t>
            </a:r>
          </a:p>
        </p:txBody>
      </p:sp>
      <p:sp>
        <p:nvSpPr>
          <p:cNvPr id="12" name="slide 9 number"/>
          <p:cNvSpPr txBox="1"/>
          <p:nvPr/>
        </p:nvSpPr>
        <p:spPr>
          <a:xfrm>
            <a:off x="11201400" y="635508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900" b="1">
                <a:solidFill>
                  <a:srgbClr val="8A95A6"/>
                </a:solidFill>
                <a:latin typeface="Aptos"/>
              </a:rPr>
              <a:t>09</a:t>
            </a:r>
          </a:p>
        </p:txBody>
      </p:sp>
      <p:sp>
        <p:nvSpPr>
          <p:cNvPr id="20" name="routes main"/>
          <p:cNvSpPr txBox="1"/>
          <p:nvPr/>
        </p:nvSpPr>
        <p:spPr>
          <a:xfrm>
            <a:off x="822960" y="1280160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3000" b="1">
                <a:solidFill>
                  <a:srgbClr val="17202A"/>
                </a:solidFill>
                <a:latin typeface="Aptos"/>
              </a:rPr>
              <a:t>/auth</a:t>
            </a:r>
          </a:p>
          <a:p>
            <a:pPr algn="l"/>
            <a:r>
              <a:rPr lang="en-US" sz="3000" b="1">
                <a:solidFill>
                  <a:srgbClr val="17202A"/>
                </a:solidFill>
                <a:latin typeface="Aptos"/>
              </a:rPr>
              <a:t>/dashboard</a:t>
            </a:r>
          </a:p>
          <a:p>
            <a:pPr algn="l"/>
            <a:r>
              <a:rPr lang="en-US" sz="3000" b="1">
                <a:solidFill>
                  <a:srgbClr val="17202A"/>
                </a:solidFill>
                <a:latin typeface="Aptos"/>
              </a:rPr>
              <a:t>/services/:service</a:t>
            </a:r>
          </a:p>
        </p:txBody>
      </p:sp>
      <p:sp>
        <p:nvSpPr>
          <p:cNvPr id="21" name="route notes"/>
          <p:cNvSpPr txBox="1"/>
          <p:nvPr/>
        </p:nvSpPr>
        <p:spPr>
          <a:xfrm>
            <a:off x="868680" y="2880360"/>
            <a:ext cx="448056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700">
                <a:solidFill>
                  <a:srgbClr val="3B4656"/>
                </a:solidFill>
                <a:latin typeface="Aptos"/>
              </a:rPr>
              <a:t>Guest guard keeps logged-in users out of /auth.</a:t>
            </a:r>
          </a:p>
          <a:p>
            <a:pPr algn="l"/>
            <a:r>
              <a:rPr lang="en-US" sz="1700">
                <a:solidFill>
                  <a:srgbClr val="3B4656"/>
                </a:solidFill>
                <a:latin typeface="Aptos"/>
              </a:rPr>
              <a:t>Auth guard protects dashboard and service pages.</a:t>
            </a:r>
          </a:p>
          <a:p>
            <a:pPr algn="l"/>
            <a:r>
              <a:rPr lang="en-US" sz="1700">
                <a:solidFill>
                  <a:srgbClr val="3B4656"/>
                </a:solidFill>
                <a:latin typeface="Aptos"/>
              </a:rPr>
              <a:t>Unknown paths redirect back to /auth.</a:t>
            </a:r>
          </a:p>
        </p:txBody>
      </p:sp>
      <p:sp>
        <p:nvSpPr>
          <p:cNvPr id="22" name="service map"/>
          <p:cNvSpPr/>
          <p:nvPr/>
        </p:nvSpPr>
        <p:spPr>
          <a:xfrm>
            <a:off x="6400800" y="1234440"/>
            <a:ext cx="4114800" cy="356616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</a:ln>
        </p:spPr>
      </p:sp>
      <p:sp>
        <p:nvSpPr>
          <p:cNvPr id="23" name="service map title"/>
          <p:cNvSpPr txBox="1"/>
          <p:nvPr/>
        </p:nvSpPr>
        <p:spPr>
          <a:xfrm>
            <a:off x="6720840" y="160020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700" b="1">
                <a:solidFill>
                  <a:srgbClr val="9EE8CE"/>
                </a:solidFill>
                <a:latin typeface="Aptos"/>
              </a:rPr>
              <a:t>Service keys</a:t>
            </a:r>
          </a:p>
        </p:txBody>
      </p:sp>
      <p:sp>
        <p:nvSpPr>
          <p:cNvPr id="24" name="service map body"/>
          <p:cNvSpPr txBox="1"/>
          <p:nvPr/>
        </p:nvSpPr>
        <p:spPr>
          <a:xfrm>
            <a:off x="6720840" y="2148840"/>
            <a:ext cx="3520440" cy="187451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"/>
            <a:r>
              <a:rPr lang="en-US" sz="2100" b="1">
                <a:solidFill>
                  <a:srgbClr val="FFFFFF"/>
                </a:solidFill>
                <a:latin typeface="Aptos"/>
              </a:rPr>
              <a:t>profiles · startups · discover</a:t>
            </a:r>
          </a:p>
          <a:p>
            <a:pPr algn="c"/>
            <a:r>
              <a:rPr lang="en-US" sz="2100" b="1">
                <a:solidFill>
                  <a:srgbClr val="FFFFFF"/>
                </a:solidFill>
                <a:latin typeface="Aptos"/>
              </a:rPr>
              <a:t>investments · team · messages</a:t>
            </a:r>
          </a:p>
          <a:p>
            <a:pPr algn="c"/>
            <a:r>
              <a:rPr lang="en-US" sz="2100" b="1">
                <a:solidFill>
                  <a:srgbClr val="FFFFFF"/>
                </a:solidFill>
                <a:latin typeface="Aptos"/>
              </a:rPr>
              <a:t>notifications · admin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10 kicker"/>
          <p:cNvSpPr txBox="1"/>
          <p:nvPr/>
        </p:nvSpPr>
        <p:spPr>
          <a:xfrm>
            <a:off x="502920" y="22860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000" b="1">
                <a:solidFill>
                  <a:srgbClr val="607089"/>
                </a:solidFill>
                <a:latin typeface="Aptos"/>
              </a:rPr>
              <a:t>BUILD REALITIES</a:t>
            </a:r>
          </a:p>
        </p:txBody>
      </p:sp>
      <p:sp>
        <p:nvSpPr>
          <p:cNvPr id="11" name="slide 10 title"/>
          <p:cNvSpPr txBox="1"/>
          <p:nvPr/>
        </p:nvSpPr>
        <p:spPr>
          <a:xfrm>
            <a:off x="502920" y="475488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500" b="1">
                <a:solidFill>
                  <a:srgbClr val="17202A"/>
                </a:solidFill>
                <a:latin typeface="Aptos"/>
              </a:rPr>
              <a:t>Challenges Faced</a:t>
            </a:r>
          </a:p>
        </p:txBody>
      </p:sp>
      <p:sp>
        <p:nvSpPr>
          <p:cNvPr id="12" name="slide 10 number"/>
          <p:cNvSpPr txBox="1"/>
          <p:nvPr/>
        </p:nvSpPr>
        <p:spPr>
          <a:xfrm>
            <a:off x="11201400" y="635508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900" b="1">
                <a:solidFill>
                  <a:srgbClr val="8A95A6"/>
                </a:solidFill>
                <a:latin typeface="Aptos"/>
              </a:rPr>
              <a:t>10</a:t>
            </a:r>
          </a:p>
        </p:txBody>
      </p:sp>
      <p:sp>
        <p:nvSpPr>
          <p:cNvPr id="20" name="challenges"/>
          <p:cNvSpPr txBox="1"/>
          <p:nvPr/>
        </p:nvSpPr>
        <p:spPr>
          <a:xfrm>
            <a:off x="731520" y="1234440"/>
            <a:ext cx="4937760" cy="3840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800">
                <a:solidFill>
                  <a:srgbClr val="27313F"/>
                </a:solidFill>
                <a:latin typeface="Aptos"/>
              </a:rPr>
              <a:t>• Keeping JWT auth consistent across independent services.</a:t>
            </a:r>
          </a:p>
          <a:p>
            <a:pPr algn="l"/>
            <a:r>
              <a:rPr lang="en-US" sz="1800">
                <a:solidFill>
                  <a:srgbClr val="27313F"/>
                </a:solidFill>
                <a:latin typeface="Aptos"/>
              </a:rPr>
              <a:t>• Making services discoverable while still runnable through Docker Compose.</a:t>
            </a:r>
          </a:p>
          <a:p>
            <a:pPr algn="l"/>
            <a:r>
              <a:rPr lang="en-US" sz="1800">
                <a:solidFill>
                  <a:srgbClr val="27313F"/>
                </a:solidFill>
                <a:latin typeface="Aptos"/>
              </a:rPr>
              <a:t>• Coordinating PostgreSQL data ownership across separate service modules.</a:t>
            </a:r>
          </a:p>
          <a:p>
            <a:pPr algn="l"/>
            <a:r>
              <a:rPr lang="en-US" sz="1800">
                <a:solidFill>
                  <a:srgbClr val="27313F"/>
                </a:solidFill>
                <a:latin typeface="Aptos"/>
              </a:rPr>
              <a:t>• Decoupling email delivery from user-facing flows with RabbitMQ.</a:t>
            </a:r>
          </a:p>
          <a:p>
            <a:pPr algn="l"/>
            <a:r>
              <a:rPr lang="en-US" sz="1800">
                <a:solidFill>
                  <a:srgbClr val="27313F"/>
                </a:solidFill>
                <a:latin typeface="Aptos"/>
              </a:rPr>
              <a:t>• Maintaining coverage and SonarQube signals across many Maven projects plus Angular.</a:t>
            </a:r>
          </a:p>
        </p:txBody>
      </p:sp>
      <p:sp>
        <p:nvSpPr>
          <p:cNvPr id="21" name="quality rail"/>
          <p:cNvSpPr/>
          <p:nvPr/>
        </p:nvSpPr>
        <p:spPr>
          <a:xfrm>
            <a:off x="6400800" y="1234440"/>
            <a:ext cx="438912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</p:sp>
      <p:sp>
        <p:nvSpPr>
          <p:cNvPr id="22" name="quality title"/>
          <p:cNvSpPr txBox="1"/>
          <p:nvPr/>
        </p:nvSpPr>
        <p:spPr>
          <a:xfrm>
            <a:off x="6720840" y="15544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900" b="1">
                <a:solidFill>
                  <a:srgbClr val="17202A"/>
                </a:solidFill>
                <a:latin typeface="Aptos"/>
              </a:rPr>
              <a:t>Quality controls</a:t>
            </a:r>
          </a:p>
        </p:txBody>
      </p:sp>
      <p:sp>
        <p:nvSpPr>
          <p:cNvPr id="23" name="quality body"/>
          <p:cNvSpPr txBox="1"/>
          <p:nvPr/>
        </p:nvSpPr>
        <p:spPr>
          <a:xfrm>
            <a:off x="6720840" y="2148840"/>
            <a:ext cx="3474720" cy="1554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700">
                <a:solidFill>
                  <a:srgbClr val="3B4656"/>
                </a:solidFill>
                <a:latin typeface="Aptos"/>
              </a:rPr>
              <a:t>Unit tests</a:t>
            </a:r>
          </a:p>
          <a:p>
            <a:pPr algn="l"/>
            <a:r>
              <a:rPr lang="en-US" sz="1700">
                <a:solidFill>
                  <a:srgbClr val="3B4656"/>
                </a:solidFill>
                <a:latin typeface="Aptos"/>
              </a:rPr>
              <a:t>JaCoCo reports</a:t>
            </a:r>
          </a:p>
          <a:p>
            <a:pPr algn="l"/>
            <a:r>
              <a:rPr lang="en-US" sz="1700">
                <a:solidFill>
                  <a:srgbClr val="3B4656"/>
                </a:solidFill>
                <a:latin typeface="Aptos"/>
              </a:rPr>
              <a:t>SonarQube scans</a:t>
            </a:r>
          </a:p>
          <a:p>
            <a:pPr algn="l"/>
            <a:r>
              <a:rPr lang="en-US" sz="1700">
                <a:solidFill>
                  <a:srgbClr val="3B4656"/>
                </a:solidFill>
                <a:latin typeface="Aptos"/>
              </a:rPr>
              <a:t>GitHub Actions matrix</a:t>
            </a:r>
          </a:p>
          <a:p>
            <a:pPr algn="l"/>
            <a:r>
              <a:rPr lang="en-US" sz="1700">
                <a:solidFill>
                  <a:srgbClr val="3B4656"/>
                </a:solidFill>
                <a:latin typeface="Aptos"/>
              </a:rPr>
              <a:t>Docker build validation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11 kicker"/>
          <p:cNvSpPr txBox="1"/>
          <p:nvPr/>
        </p:nvSpPr>
        <p:spPr>
          <a:xfrm>
            <a:off x="502920" y="22860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000" b="1">
                <a:solidFill>
                  <a:srgbClr val="607089"/>
                </a:solidFill>
                <a:latin typeface="Aptos"/>
              </a:rPr>
              <a:t>WHAT THE PROJECT TAUGHT</a:t>
            </a:r>
          </a:p>
        </p:txBody>
      </p:sp>
      <p:sp>
        <p:nvSpPr>
          <p:cNvPr id="11" name="slide 11 title"/>
          <p:cNvSpPr txBox="1"/>
          <p:nvPr/>
        </p:nvSpPr>
        <p:spPr>
          <a:xfrm>
            <a:off x="502920" y="475488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500" b="1">
                <a:solidFill>
                  <a:srgbClr val="17202A"/>
                </a:solidFill>
                <a:latin typeface="Aptos"/>
              </a:rPr>
              <a:t>Learnings</a:t>
            </a:r>
          </a:p>
        </p:txBody>
      </p:sp>
      <p:sp>
        <p:nvSpPr>
          <p:cNvPr id="12" name="slide 11 number"/>
          <p:cNvSpPr txBox="1"/>
          <p:nvPr/>
        </p:nvSpPr>
        <p:spPr>
          <a:xfrm>
            <a:off x="11201400" y="635508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900" b="1">
                <a:solidFill>
                  <a:srgbClr val="8A95A6"/>
                </a:solidFill>
                <a:latin typeface="Aptos"/>
              </a:rPr>
              <a:t>11</a:t>
            </a:r>
          </a:p>
        </p:txBody>
      </p:sp>
      <p:sp>
        <p:nvSpPr>
          <p:cNvPr id="20" name="learn body"/>
          <p:cNvSpPr txBox="1"/>
          <p:nvPr/>
        </p:nvSpPr>
        <p:spPr>
          <a:xfrm>
            <a:off x="822960" y="1234440"/>
            <a:ext cx="4754880" cy="3840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600" b="1">
                <a:solidFill>
                  <a:srgbClr val="17202A"/>
                </a:solidFill>
                <a:latin typeface="Aptos"/>
              </a:rPr>
              <a:t>Microservices are not just multiple folders. They require clear ownership, route contracts, discovery, configuration, authentication boundaries, test strategy, and failure-aware communication.</a:t>
            </a:r>
          </a:p>
        </p:txBody>
      </p:sp>
      <p:sp>
        <p:nvSpPr>
          <p:cNvPr id="21" name="learn bullets"/>
          <p:cNvSpPr txBox="1"/>
          <p:nvPr/>
        </p:nvSpPr>
        <p:spPr>
          <a:xfrm>
            <a:off x="6400800" y="1417320"/>
            <a:ext cx="4206240" cy="3291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800">
                <a:solidFill>
                  <a:srgbClr val="27313F"/>
                </a:solidFill>
                <a:latin typeface="Aptos"/>
              </a:rPr>
              <a:t>• Gateway simplifies frontend integration.</a:t>
            </a:r>
          </a:p>
          <a:p>
            <a:pPr algn="l"/>
            <a:r>
              <a:rPr lang="en-US" sz="1800">
                <a:solidFill>
                  <a:srgbClr val="27313F"/>
                </a:solidFill>
                <a:latin typeface="Aptos"/>
              </a:rPr>
              <a:t>• Config and discovery reduce hardcoded coupling.</a:t>
            </a:r>
          </a:p>
          <a:p>
            <a:pPr algn="l"/>
            <a:r>
              <a:rPr lang="en-US" sz="1800">
                <a:solidFill>
                  <a:srgbClr val="27313F"/>
                </a:solidFill>
                <a:latin typeface="Aptos"/>
              </a:rPr>
              <a:t>• Async messaging improves responsiveness.</a:t>
            </a:r>
          </a:p>
          <a:p>
            <a:pPr algn="l"/>
            <a:r>
              <a:rPr lang="en-US" sz="1800">
                <a:solidFill>
                  <a:srgbClr val="27313F"/>
                </a:solidFill>
                <a:latin typeface="Aptos"/>
              </a:rPr>
              <a:t>• Role-based UI must mirror backend authorization.</a:t>
            </a:r>
          </a:p>
          <a:p>
            <a:pPr algn="l"/>
            <a:r>
              <a:rPr lang="en-US" sz="1800">
                <a:solidFill>
                  <a:srgbClr val="27313F"/>
                </a:solidFill>
                <a:latin typeface="Aptos"/>
              </a:rPr>
              <a:t>• CI/CD catches integration mistakes early.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12 kicker"/>
          <p:cNvSpPr txBox="1"/>
          <p:nvPr/>
        </p:nvSpPr>
        <p:spPr>
          <a:xfrm>
            <a:off x="502920" y="22860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000" b="1">
                <a:solidFill>
                  <a:srgbClr val="607089"/>
                </a:solidFill>
                <a:latin typeface="Aptos"/>
              </a:rPr>
              <a:t>NEXT ITERATION</a:t>
            </a:r>
          </a:p>
        </p:txBody>
      </p:sp>
      <p:sp>
        <p:nvSpPr>
          <p:cNvPr id="11" name="slide 12 title"/>
          <p:cNvSpPr txBox="1"/>
          <p:nvPr/>
        </p:nvSpPr>
        <p:spPr>
          <a:xfrm>
            <a:off x="502920" y="475488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500" b="1">
                <a:solidFill>
                  <a:srgbClr val="17202A"/>
                </a:solidFill>
                <a:latin typeface="Aptos"/>
              </a:rPr>
              <a:t>Future Enhancements</a:t>
            </a:r>
          </a:p>
        </p:txBody>
      </p:sp>
      <p:sp>
        <p:nvSpPr>
          <p:cNvPr id="12" name="slide 12 number"/>
          <p:cNvSpPr txBox="1"/>
          <p:nvPr/>
        </p:nvSpPr>
        <p:spPr>
          <a:xfrm>
            <a:off x="11201400" y="635508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900" b="1">
                <a:solidFill>
                  <a:srgbClr val="8A95A6"/>
                </a:solidFill>
                <a:latin typeface="Aptos"/>
              </a:rPr>
              <a:t>12</a:t>
            </a:r>
          </a:p>
        </p:txBody>
      </p:sp>
      <p:sp>
        <p:nvSpPr>
          <p:cNvPr id="20" name="future 1"/>
          <p:cNvSpPr txBox="1"/>
          <p:nvPr/>
        </p:nvSpPr>
        <p:spPr>
          <a:xfrm>
            <a:off x="777240" y="1234440"/>
            <a:ext cx="4480560" cy="3474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800" b="1">
                <a:solidFill>
                  <a:srgbClr val="17202A"/>
                </a:solidFill>
                <a:latin typeface="Aptos"/>
              </a:rPr>
              <a:t>Short term</a:t>
            </a:r>
          </a:p>
          <a:p>
            <a:pPr algn="l"/>
            <a:r>
              <a:rPr lang="en-US" sz="1800" b="1">
                <a:solidFill>
                  <a:srgbClr val="17202A"/>
                </a:solidFill>
                <a:latin typeface="Aptos"/>
              </a:rPr>
              <a:t>• Real-time messaging with WebSocket/STOMP</a:t>
            </a:r>
          </a:p>
          <a:p>
            <a:pPr algn="l"/>
            <a:r>
              <a:rPr lang="en-US" sz="1800" b="1">
                <a:solidFill>
                  <a:srgbClr val="17202A"/>
                </a:solidFill>
                <a:latin typeface="Aptos"/>
              </a:rPr>
              <a:t>• Search, filters, and richer startup discovery</a:t>
            </a:r>
          </a:p>
          <a:p>
            <a:pPr algn="l"/>
            <a:r>
              <a:rPr lang="en-US" sz="1800" b="1">
                <a:solidFill>
                  <a:srgbClr val="17202A"/>
                </a:solidFill>
                <a:latin typeface="Aptos"/>
              </a:rPr>
              <a:t>• Notification inbox with read/unread state</a:t>
            </a:r>
          </a:p>
          <a:p>
            <a:pPr algn="l"/>
            <a:r>
              <a:rPr lang="en-US" sz="1800" b="1">
                <a:solidFill>
                  <a:srgbClr val="17202A"/>
                </a:solidFill>
                <a:latin typeface="Aptos"/>
              </a:rPr>
              <a:t>• Better admin moderation analytics</a:t>
            </a:r>
          </a:p>
        </p:txBody>
      </p:sp>
      <p:sp>
        <p:nvSpPr>
          <p:cNvPr id="21" name="future 2"/>
          <p:cNvSpPr txBox="1"/>
          <p:nvPr/>
        </p:nvSpPr>
        <p:spPr>
          <a:xfrm>
            <a:off x="6400800" y="1234440"/>
            <a:ext cx="4480560" cy="3474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800" b="1">
                <a:solidFill>
                  <a:srgbClr val="17202A"/>
                </a:solidFill>
                <a:latin typeface="Aptos"/>
              </a:rPr>
              <a:t>Long term</a:t>
            </a:r>
          </a:p>
          <a:p>
            <a:pPr algn="l"/>
            <a:r>
              <a:rPr lang="en-US" sz="1800" b="1">
                <a:solidFill>
                  <a:srgbClr val="17202A"/>
                </a:solidFill>
                <a:latin typeface="Aptos"/>
              </a:rPr>
              <a:t>• Payment/investment document workflow</a:t>
            </a:r>
          </a:p>
          <a:p>
            <a:pPr algn="l"/>
            <a:r>
              <a:rPr lang="en-US" sz="1800" b="1">
                <a:solidFill>
                  <a:srgbClr val="17202A"/>
                </a:solidFill>
                <a:latin typeface="Aptos"/>
              </a:rPr>
              <a:t>• File upload for pitch decks</a:t>
            </a:r>
          </a:p>
          <a:p>
            <a:pPr algn="l"/>
            <a:r>
              <a:rPr lang="en-US" sz="1800" b="1">
                <a:solidFill>
                  <a:srgbClr val="17202A"/>
                </a:solidFill>
                <a:latin typeface="Aptos"/>
              </a:rPr>
              <a:t>• Kubernetes deployment manifests</a:t>
            </a:r>
          </a:p>
          <a:p>
            <a:pPr algn="l"/>
            <a:r>
              <a:rPr lang="en-US" sz="1800" b="1">
                <a:solidFill>
                  <a:srgbClr val="17202A"/>
                </a:solidFill>
                <a:latin typeface="Aptos"/>
              </a:rPr>
              <a:t>• Observability with logs, metrics, and tracing</a:t>
            </a:r>
          </a:p>
        </p:txBody>
      </p:sp>
      <p:sp>
        <p:nvSpPr>
          <p:cNvPr id="22" name="closing"/>
          <p:cNvSpPr txBox="1"/>
          <p:nvPr/>
        </p:nvSpPr>
        <p:spPr>
          <a:xfrm>
            <a:off x="914400" y="562356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"/>
            <a:r>
              <a:rPr lang="en-US" sz="1900" b="1">
                <a:solidFill>
                  <a:srgbClr val="0B5D46"/>
                </a:solidFill>
                <a:latin typeface="Aptos"/>
              </a:rPr>
              <a:t>FounderLink can evolve from a training project into a production-style startup collaboration platform.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underLink">
  <a:themeElements>
    <a:clrScheme name="FounderLink">
      <a:dk1>
        <a:srgbClr val="17202A"/>
      </a:dk1>
      <a:lt1>
        <a:srgbClr val="FFFFFF"/>
      </a:lt1>
      <a:dk2>
        <a:srgbClr val="0B1F33"/>
      </a:dk2>
      <a:lt2>
        <a:srgbClr val="F6F7F9"/>
      </a:lt2>
      <a:accent1>
        <a:srgbClr val="20B486"/>
      </a:accent1>
      <a:accent2>
        <a:srgbClr val="6B7CFF"/>
      </a:accent2>
      <a:accent3>
        <a:srgbClr val="F5A524"/>
      </a:accent3>
      <a:accent4>
        <a:srgbClr val="D84B87"/>
      </a:accent4>
      <a:accent5>
        <a:srgbClr val="3498DB"/>
      </a:accent5>
      <a:accent6>
        <a:srgbClr val="607089"/>
      </a:accent6>
      <a:hlink>
        <a:srgbClr val="3498DB"/>
      </a:hlink>
      <a:folHlink>
        <a:srgbClr val="6B7CFF"/>
      </a:folHlink>
    </a:clrScheme>
    <a:fontScheme name="FounderLink">
      <a:majorFont>
        <a:latin typeface="Aptos"/>
      </a:majorFont>
      <a:minorFont>
        <a:latin typeface="Aptos"/>
      </a:minorFont>
    </a:fontScheme>
    <a:fmtScheme name="FounderLink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Widescreen</PresentationFormat>
  <Slides>12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FounderLink Project Presentation</dc:title>
  <dc:creator>Codex</dc:creator>
  <cp:lastModifiedBy>Codex</cp:lastModifiedBy>
</cp:coreProperties>
</file>